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256" r:id="rId2"/>
    <p:sldId id="291" r:id="rId3"/>
    <p:sldId id="292" r:id="rId4"/>
    <p:sldId id="293" r:id="rId5"/>
    <p:sldId id="294" r:id="rId6"/>
    <p:sldId id="296" r:id="rId7"/>
    <p:sldId id="297" r:id="rId8"/>
    <p:sldId id="295" r:id="rId9"/>
    <p:sldId id="298" r:id="rId10"/>
    <p:sldId id="300" r:id="rId11"/>
    <p:sldId id="301" r:id="rId12"/>
    <p:sldId id="299" r:id="rId13"/>
    <p:sldId id="302" r:id="rId14"/>
    <p:sldId id="303" r:id="rId15"/>
    <p:sldId id="304" r:id="rId16"/>
    <p:sldId id="305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75" r:id="rId25"/>
    <p:sldId id="278" r:id="rId26"/>
    <p:sldId id="279" r:id="rId27"/>
    <p:sldId id="280" r:id="rId28"/>
    <p:sldId id="281" r:id="rId29"/>
    <p:sldId id="282" r:id="rId30"/>
    <p:sldId id="283" r:id="rId31"/>
    <p:sldId id="270" r:id="rId32"/>
    <p:sldId id="271" r:id="rId33"/>
    <p:sldId id="272" r:id="rId34"/>
    <p:sldId id="273" r:id="rId35"/>
    <p:sldId id="274" r:id="rId36"/>
    <p:sldId id="276" r:id="rId37"/>
    <p:sldId id="277" r:id="rId38"/>
    <p:sldId id="269" r:id="rId39"/>
    <p:sldId id="268" r:id="rId40"/>
    <p:sldId id="261" r:id="rId41"/>
    <p:sldId id="257" r:id="rId42"/>
    <p:sldId id="258" r:id="rId43"/>
    <p:sldId id="262" r:id="rId44"/>
    <p:sldId id="259" r:id="rId45"/>
    <p:sldId id="267" r:id="rId46"/>
    <p:sldId id="263" r:id="rId47"/>
    <p:sldId id="260" r:id="rId48"/>
    <p:sldId id="264" r:id="rId49"/>
    <p:sldId id="265" r:id="rId50"/>
    <p:sldId id="266" r:id="rId5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4" autoAdjust="0"/>
    <p:restoredTop sz="94660"/>
  </p:normalViewPr>
  <p:slideViewPr>
    <p:cSldViewPr>
      <p:cViewPr varScale="1">
        <p:scale>
          <a:sx n="84" d="100"/>
          <a:sy n="84" d="100"/>
        </p:scale>
        <p:origin x="296" y="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327A70-99B0-4C6B-97CA-130B17C8EC7F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F721E1-0787-45D0-ABD5-65A323428C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8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F721E1-0787-45D0-ABD5-65A323428C8A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4470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B49B-C0AE-447B-876C-1A453E2B644F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1315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B49B-C0AE-447B-876C-1A453E2B644F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3828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B49B-C0AE-447B-876C-1A453E2B644F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600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B49B-C0AE-447B-876C-1A453E2B644F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8953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B49B-C0AE-447B-876C-1A453E2B644F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3095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B49B-C0AE-447B-876C-1A453E2B644F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6884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B49B-C0AE-447B-876C-1A453E2B644F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1541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B49B-C0AE-447B-876C-1A453E2B644F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0919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B49B-C0AE-447B-876C-1A453E2B644F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8086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B49B-C0AE-447B-876C-1A453E2B644F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8578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B49B-C0AE-447B-876C-1A453E2B644F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2595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2AB49B-C0AE-447B-876C-1A453E2B644F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530B1B-01C2-4D9D-8E4B-836A530B52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8303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mailto:test2@test.com/test123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mailto:test2@test.com/test1234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mailto:test2@test.com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hyperlink" Target="mailto:admin@myplatform.com" TargetMode="Externa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://spboxwin.iptime.org:3000/my/magok" TargetMode="External"/><Relationship Id="rId2" Type="http://schemas.openxmlformats.org/officeDocument/2006/relationships/hyperlink" Target="http://spboxwin.iptime.org:3000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spboxwin.iptime.org:3000/platform" TargetMode="Externa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mailto:test@test.com" TargetMode="External"/><Relationship Id="rId2" Type="http://schemas.openxmlformats.org/officeDocument/2006/relationships/hyperlink" Target="mailto:test2@test.com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My-</a:t>
            </a:r>
            <a:r>
              <a:rPr lang="en-US" altLang="ko-KR" dirty="0" err="1" smtClean="0"/>
              <a:t>plaform</a:t>
            </a:r>
            <a:r>
              <a:rPr lang="ko-KR" altLang="en-US" dirty="0" smtClean="0"/>
              <a:t>기획</a:t>
            </a:r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9014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260648"/>
            <a:ext cx="57606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다음 </a:t>
            </a:r>
            <a:r>
              <a:rPr lang="en-US" altLang="ko-KR" sz="1400" dirty="0" smtClean="0"/>
              <a:t>to do </a:t>
            </a:r>
          </a:p>
          <a:p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/>
              <a:t>Trial </a:t>
            </a:r>
            <a:r>
              <a:rPr lang="ko-KR" altLang="en-US" sz="1400" dirty="0" smtClean="0"/>
              <a:t>또는 공개된 사이트에서 사용자가 문의 </a:t>
            </a:r>
            <a:r>
              <a:rPr lang="ko-KR" altLang="en-US" sz="1400" dirty="0" err="1" smtClean="0"/>
              <a:t>남겨보기</a:t>
            </a:r>
            <a:r>
              <a:rPr lang="ko-KR" altLang="en-US" sz="1400" dirty="0" smtClean="0"/>
              <a:t> </a:t>
            </a:r>
            <a:endParaRPr lang="en-US" altLang="ko-KR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사이트 구성도 시장 조사 </a:t>
            </a:r>
            <a:endParaRPr lang="en-US" altLang="ko-KR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사이트 템플릿 기능 고도화</a:t>
            </a:r>
            <a:r>
              <a:rPr lang="en-US" altLang="ko-KR" sz="1400" dirty="0" smtClean="0"/>
              <a:t>. Ex) </a:t>
            </a:r>
            <a:r>
              <a:rPr lang="ko-KR" altLang="en-US" sz="1400" dirty="0" err="1" smtClean="0"/>
              <a:t>상위메뉴</a:t>
            </a:r>
            <a:r>
              <a:rPr lang="en-US" altLang="ko-KR" sz="1400" dirty="0" smtClean="0"/>
              <a:t>, left</a:t>
            </a:r>
            <a:r>
              <a:rPr lang="ko-KR" altLang="en-US" sz="1400" dirty="0" smtClean="0"/>
              <a:t>메뉴 </a:t>
            </a:r>
            <a:r>
              <a:rPr lang="ko-KR" altLang="en-US" sz="1400" dirty="0" err="1" smtClean="0"/>
              <a:t>노코드</a:t>
            </a:r>
            <a:r>
              <a:rPr lang="ko-KR" altLang="en-US" sz="1400" dirty="0" smtClean="0"/>
              <a:t> 구성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카드 </a:t>
            </a:r>
            <a:r>
              <a:rPr lang="ko-KR" altLang="en-US" sz="1400" dirty="0" err="1" smtClean="0"/>
              <a:t>구성리스트</a:t>
            </a:r>
            <a:r>
              <a:rPr lang="ko-KR" altLang="en-US" sz="1400" dirty="0" smtClean="0"/>
              <a:t> 컨텐츠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등등 </a:t>
            </a:r>
            <a:endParaRPr lang="en-US" altLang="ko-KR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sz="1400" dirty="0"/>
          </a:p>
        </p:txBody>
      </p:sp>
      <p:sp>
        <p:nvSpPr>
          <p:cNvPr id="3" name="직사각형 2"/>
          <p:cNvSpPr/>
          <p:nvPr/>
        </p:nvSpPr>
        <p:spPr>
          <a:xfrm>
            <a:off x="755576" y="2076530"/>
            <a:ext cx="2520280" cy="776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쇼핑몰 사이트 </a:t>
            </a:r>
            <a:r>
              <a:rPr lang="ko-KR" altLang="en-US" sz="1200" dirty="0" err="1" smtClean="0"/>
              <a:t>분석부분</a:t>
            </a:r>
            <a:endParaRPr lang="en-US" altLang="ko-KR" sz="1200" dirty="0" smtClean="0"/>
          </a:p>
          <a:p>
            <a:pPr algn="ctr"/>
            <a:r>
              <a:rPr lang="ko-KR" altLang="en-US" sz="1200" dirty="0" smtClean="0"/>
              <a:t>회원가입부분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자체</a:t>
            </a:r>
            <a:r>
              <a:rPr lang="en-US" altLang="ko-KR" sz="1200" dirty="0" smtClean="0"/>
              <a:t>,</a:t>
            </a:r>
            <a:r>
              <a:rPr lang="en-US" altLang="ko-KR" sz="1200" dirty="0" err="1" smtClean="0"/>
              <a:t>sns</a:t>
            </a:r>
            <a:r>
              <a:rPr lang="ko-KR" altLang="en-US" sz="1200" dirty="0" smtClean="0"/>
              <a:t>연계</a:t>
            </a:r>
            <a:r>
              <a:rPr lang="en-US" altLang="ko-KR" sz="1200" dirty="0" smtClean="0"/>
              <a:t>)</a:t>
            </a:r>
          </a:p>
          <a:p>
            <a:pPr algn="ctr"/>
            <a:r>
              <a:rPr lang="ko-KR" altLang="en-US" sz="1200" dirty="0" err="1" smtClean="0"/>
              <a:t>비로그인</a:t>
            </a:r>
            <a:r>
              <a:rPr lang="ko-KR" altLang="en-US" sz="1200" dirty="0" smtClean="0"/>
              <a:t> </a:t>
            </a:r>
            <a:r>
              <a:rPr lang="ko-KR" altLang="en-US" sz="1200" dirty="0" err="1" smtClean="0"/>
              <a:t>구매시</a:t>
            </a:r>
            <a:r>
              <a:rPr lang="ko-KR" altLang="en-US" sz="1200" dirty="0" smtClean="0"/>
              <a:t> 작동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230821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260648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2026-09-11 </a:t>
            </a:r>
            <a:r>
              <a:rPr lang="ko-KR" altLang="en-US" dirty="0" smtClean="0"/>
              <a:t>프로세스 점검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23528" y="1196752"/>
            <a:ext cx="39604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hlinkClick r:id="rId2"/>
              </a:rPr>
              <a:t>test2@test.com/test123</a:t>
            </a:r>
            <a:r>
              <a:rPr lang="en-US" altLang="ko-KR" sz="1400" dirty="0"/>
              <a:t> </a:t>
            </a:r>
            <a:r>
              <a:rPr lang="ko-KR" altLang="en-US" sz="1400" dirty="0" smtClean="0"/>
              <a:t>계정으로 </a:t>
            </a:r>
            <a:r>
              <a:rPr lang="ko-KR" altLang="en-US" sz="1400" dirty="0" err="1" smtClean="0"/>
              <a:t>사이트개설</a:t>
            </a:r>
            <a:r>
              <a:rPr lang="ko-KR" altLang="en-US" sz="1400" dirty="0" smtClean="0"/>
              <a:t> </a:t>
            </a:r>
            <a:endParaRPr lang="en-US" altLang="ko-KR" sz="1400" dirty="0" smtClean="0"/>
          </a:p>
          <a:p>
            <a:pPr marL="342900" indent="-342900">
              <a:buAutoNum type="arabicPeriod"/>
            </a:pPr>
            <a:r>
              <a:rPr lang="ko-KR" altLang="en-US" sz="1400" dirty="0" smtClean="0"/>
              <a:t>직접</a:t>
            </a:r>
            <a:endParaRPr lang="en-US" altLang="ko-KR" sz="1400" dirty="0" smtClean="0"/>
          </a:p>
          <a:p>
            <a:pPr marL="342900" indent="-342900">
              <a:buAutoNum type="arabicPeriod"/>
            </a:pPr>
            <a:r>
              <a:rPr lang="ko-KR" altLang="en-US" sz="1400" dirty="0" smtClean="0"/>
              <a:t>대리 </a:t>
            </a:r>
            <a:endParaRPr lang="ko-KR" altLang="en-US" sz="1400" dirty="0"/>
          </a:p>
        </p:txBody>
      </p:sp>
      <p:sp>
        <p:nvSpPr>
          <p:cNvPr id="4" name="직사각형 3"/>
          <p:cNvSpPr/>
          <p:nvPr/>
        </p:nvSpPr>
        <p:spPr>
          <a:xfrm>
            <a:off x="1331640" y="2479958"/>
            <a:ext cx="28803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템플릿 선택</a:t>
            </a:r>
            <a:r>
              <a:rPr lang="en-US" altLang="ko-KR" sz="1200" dirty="0" smtClean="0"/>
              <a:t>&gt;</a:t>
            </a:r>
            <a:r>
              <a:rPr lang="ko-KR" altLang="en-US" sz="1200" dirty="0" smtClean="0"/>
              <a:t>사이트 배포</a:t>
            </a:r>
            <a:r>
              <a:rPr lang="en-US" altLang="ko-KR" sz="1200" dirty="0" smtClean="0"/>
              <a:t>(</a:t>
            </a:r>
            <a:r>
              <a:rPr lang="ko-KR" altLang="en-US" sz="1200" dirty="0" err="1" smtClean="0"/>
              <a:t>카드등록</a:t>
            </a:r>
            <a:r>
              <a:rPr lang="en-US" altLang="ko-KR" sz="1200" dirty="0" smtClean="0"/>
              <a:t>)</a:t>
            </a:r>
            <a:endParaRPr lang="ko-KR" altLang="en-US" sz="1200" dirty="0"/>
          </a:p>
        </p:txBody>
      </p:sp>
      <p:sp>
        <p:nvSpPr>
          <p:cNvPr id="5" name="직사각형 4"/>
          <p:cNvSpPr/>
          <p:nvPr/>
        </p:nvSpPr>
        <p:spPr>
          <a:xfrm>
            <a:off x="1331640" y="3288924"/>
            <a:ext cx="28803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템플릿 선택</a:t>
            </a:r>
            <a:r>
              <a:rPr lang="en-US" altLang="ko-KR" sz="1200" dirty="0" smtClean="0"/>
              <a:t>&gt;</a:t>
            </a:r>
            <a:r>
              <a:rPr lang="ko-KR" altLang="en-US" sz="1200" dirty="0" smtClean="0"/>
              <a:t>사이트 배포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계좌이체</a:t>
            </a:r>
            <a:r>
              <a:rPr lang="en-US" altLang="ko-KR" sz="1200" dirty="0" smtClean="0"/>
              <a:t>)</a:t>
            </a:r>
            <a:endParaRPr lang="ko-KR" altLang="en-US" sz="1200" dirty="0"/>
          </a:p>
        </p:txBody>
      </p:sp>
      <p:sp>
        <p:nvSpPr>
          <p:cNvPr id="6" name="직사각형 5"/>
          <p:cNvSpPr/>
          <p:nvPr/>
        </p:nvSpPr>
        <p:spPr>
          <a:xfrm>
            <a:off x="4499992" y="2852936"/>
            <a:ext cx="201622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trial14</a:t>
            </a:r>
            <a:r>
              <a:rPr lang="ko-KR" altLang="en-US" sz="1400" dirty="0" smtClean="0"/>
              <a:t>일</a:t>
            </a:r>
            <a:endParaRPr lang="ko-KR" altLang="en-US" sz="1400" dirty="0"/>
          </a:p>
        </p:txBody>
      </p:sp>
      <p:sp>
        <p:nvSpPr>
          <p:cNvPr id="7" name="직사각형 6"/>
          <p:cNvSpPr/>
          <p:nvPr/>
        </p:nvSpPr>
        <p:spPr>
          <a:xfrm>
            <a:off x="395536" y="2708920"/>
            <a:ext cx="64807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직접</a:t>
            </a:r>
            <a:endParaRPr lang="ko-KR" altLang="en-US" sz="1200" dirty="0"/>
          </a:p>
        </p:txBody>
      </p:sp>
      <p:sp>
        <p:nvSpPr>
          <p:cNvPr id="8" name="직사각형 7"/>
          <p:cNvSpPr/>
          <p:nvPr/>
        </p:nvSpPr>
        <p:spPr>
          <a:xfrm>
            <a:off x="395536" y="6100312"/>
            <a:ext cx="64807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대리</a:t>
            </a:r>
            <a:endParaRPr lang="ko-KR" altLang="en-US" sz="1200" dirty="0"/>
          </a:p>
        </p:txBody>
      </p:sp>
      <p:sp>
        <p:nvSpPr>
          <p:cNvPr id="9" name="직사각형 8"/>
          <p:cNvSpPr/>
          <p:nvPr/>
        </p:nvSpPr>
        <p:spPr>
          <a:xfrm>
            <a:off x="6732240" y="2780928"/>
            <a:ext cx="93610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 smtClean="0"/>
              <a:t>구독시작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카드결제</a:t>
            </a:r>
            <a:r>
              <a:rPr lang="en-US" altLang="ko-KR" sz="1200" dirty="0" smtClean="0"/>
              <a:t>)</a:t>
            </a:r>
            <a:endParaRPr lang="ko-KR" altLang="en-US" sz="1200" dirty="0"/>
          </a:p>
        </p:txBody>
      </p:sp>
      <p:sp>
        <p:nvSpPr>
          <p:cNvPr id="10" name="직사각형 9"/>
          <p:cNvSpPr/>
          <p:nvPr/>
        </p:nvSpPr>
        <p:spPr>
          <a:xfrm>
            <a:off x="5508104" y="3429000"/>
            <a:ext cx="1008112" cy="4359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계좌이체</a:t>
            </a:r>
            <a:endParaRPr lang="en-US" altLang="ko-KR" sz="1200" dirty="0" smtClean="0"/>
          </a:p>
          <a:p>
            <a:pPr algn="ctr"/>
            <a:r>
              <a:rPr lang="ko-KR" altLang="en-US" sz="1200" dirty="0" err="1" smtClean="0"/>
              <a:t>알림톡</a:t>
            </a:r>
            <a:endParaRPr lang="ko-KR" altLang="en-US" sz="1200" dirty="0"/>
          </a:p>
        </p:txBody>
      </p:sp>
      <p:sp>
        <p:nvSpPr>
          <p:cNvPr id="11" name="직사각형 10"/>
          <p:cNvSpPr/>
          <p:nvPr/>
        </p:nvSpPr>
        <p:spPr>
          <a:xfrm>
            <a:off x="6732240" y="3419412"/>
            <a:ext cx="936104" cy="4359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/>
              <a:t>고객</a:t>
            </a:r>
            <a:r>
              <a:rPr lang="en-US" altLang="ko-KR" sz="1100" dirty="0" smtClean="0"/>
              <a:t>:</a:t>
            </a:r>
            <a:r>
              <a:rPr lang="ko-KR" altLang="en-US" sz="1100" dirty="0" smtClean="0"/>
              <a:t>계좌이체</a:t>
            </a:r>
            <a:endParaRPr lang="ko-KR" altLang="en-US" sz="1100" dirty="0"/>
          </a:p>
        </p:txBody>
      </p:sp>
      <p:sp>
        <p:nvSpPr>
          <p:cNvPr id="12" name="직사각형 11"/>
          <p:cNvSpPr/>
          <p:nvPr/>
        </p:nvSpPr>
        <p:spPr>
          <a:xfrm>
            <a:off x="8028384" y="4388230"/>
            <a:ext cx="864096" cy="7330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 smtClean="0"/>
              <a:t>계좌이체함</a:t>
            </a:r>
            <a:r>
              <a:rPr lang="en-US" altLang="ko-KR" sz="1100" dirty="0" smtClean="0"/>
              <a:t>/</a:t>
            </a:r>
            <a:r>
              <a:rPr lang="ko-KR" altLang="en-US" sz="1100" dirty="0" err="1" smtClean="0"/>
              <a:t>카드구독</a:t>
            </a:r>
            <a:endParaRPr lang="ko-KR" altLang="en-US" sz="1100" dirty="0"/>
          </a:p>
        </p:txBody>
      </p:sp>
      <p:sp>
        <p:nvSpPr>
          <p:cNvPr id="13" name="직사각형 12"/>
          <p:cNvSpPr/>
          <p:nvPr/>
        </p:nvSpPr>
        <p:spPr>
          <a:xfrm>
            <a:off x="6884640" y="5474930"/>
            <a:ext cx="864096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err="1" smtClean="0"/>
              <a:t>사이트정지</a:t>
            </a:r>
            <a:endParaRPr lang="ko-KR" altLang="en-US" sz="1050" dirty="0"/>
          </a:p>
        </p:txBody>
      </p:sp>
      <p:sp>
        <p:nvSpPr>
          <p:cNvPr id="15" name="직사각형 14"/>
          <p:cNvSpPr/>
          <p:nvPr/>
        </p:nvSpPr>
        <p:spPr>
          <a:xfrm>
            <a:off x="6884640" y="4373488"/>
            <a:ext cx="864096" cy="7330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/>
              <a:t>계좌이체안함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300293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39552" y="620688"/>
            <a:ext cx="2808312" cy="1080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회원가입했음</a:t>
            </a:r>
            <a:r>
              <a:rPr lang="en-US" altLang="ko-KR" sz="1200" dirty="0" smtClean="0"/>
              <a:t>. </a:t>
            </a:r>
            <a:r>
              <a:rPr lang="ko-KR" altLang="en-US" sz="1200" dirty="0" smtClean="0"/>
              <a:t>나 사장님</a:t>
            </a:r>
            <a:r>
              <a:rPr lang="en-US" altLang="ko-KR" sz="1200" dirty="0" smtClean="0"/>
              <a:t>? </a:t>
            </a:r>
            <a:r>
              <a:rPr lang="ko-KR" altLang="en-US" sz="1200" dirty="0" smtClean="0"/>
              <a:t>어디에 접속</a:t>
            </a:r>
            <a:r>
              <a:rPr lang="en-US" altLang="ko-KR" sz="1200" dirty="0" smtClean="0"/>
              <a:t>? &lt; </a:t>
            </a:r>
            <a:r>
              <a:rPr lang="ko-KR" altLang="en-US" sz="1200" dirty="0" err="1" smtClean="0"/>
              <a:t>뭐하려고</a:t>
            </a:r>
            <a:r>
              <a:rPr lang="en-US" altLang="ko-KR" sz="1200" dirty="0" smtClean="0"/>
              <a:t>? </a:t>
            </a:r>
            <a:r>
              <a:rPr lang="ko-KR" altLang="en-US" sz="1200" dirty="0" smtClean="0"/>
              <a:t>사이트만들게 </a:t>
            </a:r>
            <a:endParaRPr lang="en-US" altLang="ko-KR" sz="1200" dirty="0" smtClean="0"/>
          </a:p>
          <a:p>
            <a:pPr algn="ctr"/>
            <a:endParaRPr lang="ko-KR" altLang="en-US" sz="1200" dirty="0"/>
          </a:p>
        </p:txBody>
      </p:sp>
      <p:sp>
        <p:nvSpPr>
          <p:cNvPr id="3" name="직사각형 2"/>
          <p:cNvSpPr/>
          <p:nvPr/>
        </p:nvSpPr>
        <p:spPr>
          <a:xfrm>
            <a:off x="3851920" y="548680"/>
            <a:ext cx="1368152" cy="1152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/>
              <a:t>인터넷에 노출된 사이트에 접속</a:t>
            </a:r>
            <a:endParaRPr lang="ko-KR" altLang="en-US" sz="1100" dirty="0"/>
          </a:p>
        </p:txBody>
      </p:sp>
      <p:sp>
        <p:nvSpPr>
          <p:cNvPr id="4" name="직사각형 3"/>
          <p:cNvSpPr/>
          <p:nvPr/>
        </p:nvSpPr>
        <p:spPr>
          <a:xfrm>
            <a:off x="3376956" y="2132856"/>
            <a:ext cx="24288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http://localhost:3000/</a:t>
            </a:r>
          </a:p>
        </p:txBody>
      </p:sp>
    </p:spTree>
    <p:extLst>
      <p:ext uri="{BB962C8B-B14F-4D97-AF65-F5344CB8AC3E}">
        <p14:creationId xmlns:p14="http://schemas.microsoft.com/office/powerpoint/2010/main" val="218804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476672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중간점검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395536" y="1340768"/>
            <a:ext cx="2952328" cy="12241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로그인</a:t>
            </a:r>
            <a:r>
              <a:rPr lang="en-US" altLang="ko-KR" sz="1200" dirty="0" smtClean="0"/>
              <a:t>:</a:t>
            </a:r>
          </a:p>
          <a:p>
            <a:pPr algn="ctr"/>
            <a:r>
              <a:rPr lang="en-US" altLang="ko-KR" sz="1200" dirty="0" smtClean="0"/>
              <a:t> admin</a:t>
            </a:r>
            <a:r>
              <a:rPr lang="ko-KR" altLang="en-US" sz="1200" dirty="0" smtClean="0"/>
              <a:t>이면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플랫폼</a:t>
            </a:r>
            <a:r>
              <a:rPr lang="en-US" altLang="ko-KR" sz="1200" dirty="0" smtClean="0"/>
              <a:t>page </a:t>
            </a:r>
            <a:r>
              <a:rPr lang="ko-KR" altLang="en-US" sz="1200" dirty="0" smtClean="0"/>
              <a:t>이동</a:t>
            </a:r>
            <a:endParaRPr lang="en-US" altLang="ko-KR" sz="1200" dirty="0" smtClean="0"/>
          </a:p>
          <a:p>
            <a:pPr algn="ctr"/>
            <a:r>
              <a:rPr lang="ko-KR" altLang="en-US" sz="1200" dirty="0" smtClean="0"/>
              <a:t>사장님고객이면 고객</a:t>
            </a:r>
            <a:r>
              <a:rPr lang="en-US" altLang="ko-KR" sz="1200" dirty="0" smtClean="0"/>
              <a:t>admin</a:t>
            </a:r>
            <a:r>
              <a:rPr lang="ko-KR" altLang="en-US" sz="1200" dirty="0"/>
              <a:t> </a:t>
            </a:r>
            <a:r>
              <a:rPr lang="en-US" altLang="ko-KR" sz="1200" dirty="0" smtClean="0"/>
              <a:t>page</a:t>
            </a:r>
            <a:r>
              <a:rPr lang="ko-KR" altLang="en-US" sz="1200" dirty="0" smtClean="0"/>
              <a:t>로 이동</a:t>
            </a:r>
            <a:endParaRPr lang="en-US" altLang="ko-KR" sz="1200" dirty="0" smtClean="0"/>
          </a:p>
          <a:p>
            <a:pPr algn="ctr"/>
            <a:endParaRPr lang="ko-KR" altLang="en-US" sz="1200" dirty="0"/>
          </a:p>
        </p:txBody>
      </p:sp>
      <p:sp>
        <p:nvSpPr>
          <p:cNvPr id="4" name="직사각형 3"/>
          <p:cNvSpPr/>
          <p:nvPr/>
        </p:nvSpPr>
        <p:spPr>
          <a:xfrm>
            <a:off x="107504" y="3356993"/>
            <a:ext cx="2016225" cy="8309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Pretendard"/>
              </a:rPr>
              <a:t>테스트</a:t>
            </a:r>
            <a:r>
              <a:rPr lang="en-US" altLang="ko-KR" sz="1200" dirty="0">
                <a:latin typeface="Pretendard"/>
              </a:rPr>
              <a:t>2</a:t>
            </a:r>
            <a:r>
              <a:rPr lang="ko-KR" altLang="en-US" sz="1200" dirty="0"/>
              <a:t/>
            </a:r>
            <a:br>
              <a:rPr lang="ko-KR" altLang="en-US" sz="1200" dirty="0"/>
            </a:br>
            <a:r>
              <a:rPr lang="en-US" altLang="ko-KR" sz="1200" dirty="0" smtClean="0">
                <a:latin typeface="Pretendard"/>
                <a:hlinkClick r:id="rId2"/>
              </a:rPr>
              <a:t>test2@test.com/test1234</a:t>
            </a:r>
            <a:endParaRPr lang="en-US" altLang="ko-KR" sz="1200" dirty="0" smtClean="0">
              <a:latin typeface="Pretendard"/>
            </a:endParaRPr>
          </a:p>
          <a:p>
            <a:r>
              <a:rPr lang="ko-KR" altLang="en-US" sz="1200" dirty="0" smtClean="0">
                <a:latin typeface="Pretendard"/>
              </a:rPr>
              <a:t>마곡카페개설</a:t>
            </a:r>
            <a:r>
              <a:rPr lang="en-US" altLang="ko-KR" sz="1200" dirty="0" smtClean="0">
                <a:latin typeface="Pretendard"/>
              </a:rPr>
              <a:t>/</a:t>
            </a:r>
            <a:r>
              <a:rPr lang="ko-KR" altLang="en-US" sz="1200" dirty="0" smtClean="0">
                <a:latin typeface="Pretendard"/>
              </a:rPr>
              <a:t>직접</a:t>
            </a:r>
            <a:endParaRPr lang="en-US" altLang="ko-KR" sz="1200" dirty="0" smtClean="0">
              <a:latin typeface="Pretendard"/>
            </a:endParaRPr>
          </a:p>
          <a:p>
            <a:endParaRPr lang="ko-KR" altLang="en-US" sz="1200" dirty="0"/>
          </a:p>
        </p:txBody>
      </p:sp>
      <p:sp>
        <p:nvSpPr>
          <p:cNvPr id="5" name="TextBox 4"/>
          <p:cNvSpPr txBox="1"/>
          <p:nvPr/>
        </p:nvSpPr>
        <p:spPr>
          <a:xfrm>
            <a:off x="2411761" y="3573016"/>
            <a:ext cx="1080120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 err="1" smtClean="0"/>
              <a:t>사이트제작</a:t>
            </a:r>
            <a:endParaRPr lang="ko-KR" altLang="en-US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3779913" y="3543400"/>
            <a:ext cx="165618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배포</a:t>
            </a:r>
            <a:endParaRPr lang="en-US" altLang="ko-KR" sz="1200" dirty="0" smtClean="0"/>
          </a:p>
          <a:p>
            <a:r>
              <a:rPr lang="ko-KR" altLang="en-US" sz="1200" dirty="0" err="1" smtClean="0"/>
              <a:t>카드등록</a:t>
            </a:r>
            <a:r>
              <a:rPr lang="en-US" altLang="ko-KR" sz="1200" dirty="0" smtClean="0"/>
              <a:t>/</a:t>
            </a:r>
            <a:r>
              <a:rPr lang="ko-KR" altLang="en-US" sz="1200" dirty="0" err="1" smtClean="0"/>
              <a:t>계좌등록</a:t>
            </a:r>
            <a:endParaRPr lang="ko-KR" alt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5688125" y="3617347"/>
            <a:ext cx="1368152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14</a:t>
            </a:r>
            <a:r>
              <a:rPr lang="ko-KR" altLang="en-US" sz="1200" dirty="0" smtClean="0"/>
              <a:t>일 시범운영</a:t>
            </a:r>
            <a:endParaRPr lang="ko-KR" altLang="en-US"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7524328" y="3342183"/>
            <a:ext cx="129614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 err="1" smtClean="0"/>
              <a:t>이체안해서</a:t>
            </a:r>
            <a:r>
              <a:rPr lang="ko-KR" altLang="en-US" sz="1200" dirty="0" smtClean="0"/>
              <a:t> </a:t>
            </a:r>
            <a:r>
              <a:rPr lang="ko-KR" altLang="en-US" sz="1200" dirty="0" err="1" smtClean="0"/>
              <a:t>사이트정지</a:t>
            </a:r>
            <a:endParaRPr lang="ko-KR" altLang="en-US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5652121" y="4047455"/>
            <a:ext cx="1440159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시범기간중에 취소</a:t>
            </a:r>
            <a:r>
              <a:rPr lang="en-US" altLang="ko-KR" sz="1200" dirty="0" smtClean="0"/>
              <a:t>(</a:t>
            </a:r>
            <a:r>
              <a:rPr lang="ko-KR" altLang="en-US" sz="1200" dirty="0" err="1" smtClean="0"/>
              <a:t>맘에안듬</a:t>
            </a:r>
            <a:r>
              <a:rPr lang="en-US" altLang="ko-KR" sz="1200" dirty="0" smtClean="0"/>
              <a:t>)</a:t>
            </a:r>
            <a:endParaRPr lang="ko-KR" altLang="en-US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7515368" y="4230655"/>
            <a:ext cx="129614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이체 및 카드결제</a:t>
            </a:r>
            <a:r>
              <a:rPr lang="en-US" altLang="ko-KR" sz="1200" dirty="0"/>
              <a:t> </a:t>
            </a:r>
            <a:r>
              <a:rPr lang="ko-KR" altLang="en-US" sz="1200" dirty="0" err="1" smtClean="0"/>
              <a:t>되서</a:t>
            </a:r>
            <a:r>
              <a:rPr lang="ko-KR" altLang="en-US" sz="1200" dirty="0" smtClean="0"/>
              <a:t> 정상운영</a:t>
            </a:r>
            <a:endParaRPr lang="ko-KR" altLang="en-US" sz="1200" dirty="0"/>
          </a:p>
        </p:txBody>
      </p:sp>
      <p:sp>
        <p:nvSpPr>
          <p:cNvPr id="11" name="오른쪽 화살표 10"/>
          <p:cNvSpPr/>
          <p:nvPr/>
        </p:nvSpPr>
        <p:spPr>
          <a:xfrm>
            <a:off x="2123729" y="3711515"/>
            <a:ext cx="288032" cy="1385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오른쪽 화살표 11"/>
          <p:cNvSpPr/>
          <p:nvPr/>
        </p:nvSpPr>
        <p:spPr>
          <a:xfrm>
            <a:off x="3491881" y="3711515"/>
            <a:ext cx="288032" cy="1385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오른쪽 화살표 12"/>
          <p:cNvSpPr/>
          <p:nvPr/>
        </p:nvSpPr>
        <p:spPr>
          <a:xfrm>
            <a:off x="5364089" y="3866565"/>
            <a:ext cx="288032" cy="1385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오른쪽 화살표 13"/>
          <p:cNvSpPr/>
          <p:nvPr/>
        </p:nvSpPr>
        <p:spPr>
          <a:xfrm>
            <a:off x="7146286" y="3825096"/>
            <a:ext cx="288032" cy="1385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0615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2" y="1988840"/>
            <a:ext cx="2639971" cy="24482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1560" y="1196752"/>
            <a:ext cx="1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Admin </a:t>
            </a:r>
            <a:r>
              <a:rPr lang="ko-KR" altLang="en-US" sz="1200" dirty="0" smtClean="0"/>
              <a:t>로그아웃이 없네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로그아웃하면 세션도 </a:t>
            </a:r>
            <a:r>
              <a:rPr lang="ko-KR" altLang="en-US" sz="1200" dirty="0" err="1" smtClean="0"/>
              <a:t>지우는거지</a:t>
            </a:r>
            <a:r>
              <a:rPr lang="en-US" altLang="ko-KR" sz="1200" dirty="0" smtClean="0"/>
              <a:t>?</a:t>
            </a:r>
            <a:endParaRPr lang="ko-KR" altLang="en-US" sz="12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80" y="1878911"/>
            <a:ext cx="3346053" cy="2407042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79512" y="116632"/>
            <a:ext cx="288032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점검중</a:t>
            </a:r>
            <a:r>
              <a:rPr lang="ko-KR" altLang="en-US" dirty="0" smtClean="0"/>
              <a:t> 개선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144" y="1878911"/>
            <a:ext cx="2546481" cy="279096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4700" y="1700808"/>
            <a:ext cx="5986887" cy="4306772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8104" y="620688"/>
            <a:ext cx="4556262" cy="4993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565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980728"/>
            <a:ext cx="3815186" cy="170483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3356992"/>
            <a:ext cx="3858308" cy="2584253"/>
          </a:xfrm>
          <a:prstGeom prst="rect">
            <a:avLst/>
          </a:prstGeom>
        </p:spPr>
      </p:pic>
      <p:sp>
        <p:nvSpPr>
          <p:cNvPr id="4" name="사각형 설명선 3"/>
          <p:cNvSpPr/>
          <p:nvPr/>
        </p:nvSpPr>
        <p:spPr>
          <a:xfrm>
            <a:off x="4139952" y="2636912"/>
            <a:ext cx="1110244" cy="504056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 smtClean="0"/>
              <a:t>다른사이트내용이</a:t>
            </a:r>
            <a:r>
              <a:rPr lang="ko-KR" altLang="en-US" sz="1100" dirty="0" smtClean="0"/>
              <a:t> 나오네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939945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51520" y="188640"/>
            <a:ext cx="2736304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상태 </a:t>
            </a:r>
            <a:r>
              <a:rPr lang="en-US" altLang="ko-KR" dirty="0" smtClean="0"/>
              <a:t>flow </a:t>
            </a:r>
            <a:r>
              <a:rPr lang="ko-KR" altLang="en-US" dirty="0" smtClean="0"/>
              <a:t>점검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788024" y="620688"/>
            <a:ext cx="3096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 smtClean="0"/>
              <a:t>사이트상태</a:t>
            </a:r>
            <a:r>
              <a:rPr lang="ko-KR" altLang="en-US" sz="1200" dirty="0" smtClean="0"/>
              <a:t> 생성</a:t>
            </a:r>
            <a:r>
              <a:rPr lang="en-US" altLang="ko-KR" sz="1200" dirty="0" smtClean="0"/>
              <a:t>&gt; </a:t>
            </a:r>
            <a:r>
              <a:rPr lang="ko-KR" altLang="en-US" sz="1200" dirty="0" err="1" smtClean="0"/>
              <a:t>편집완료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&gt; </a:t>
            </a:r>
            <a:endParaRPr lang="ko-KR" altLang="en-US" sz="1200" dirty="0"/>
          </a:p>
        </p:txBody>
      </p:sp>
      <p:sp>
        <p:nvSpPr>
          <p:cNvPr id="7" name="직사각형 6"/>
          <p:cNvSpPr/>
          <p:nvPr/>
        </p:nvSpPr>
        <p:spPr>
          <a:xfrm>
            <a:off x="6084168" y="1124744"/>
            <a:ext cx="1080120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 smtClean="0"/>
              <a:t>사이트배포</a:t>
            </a:r>
            <a:endParaRPr lang="ko-KR" altLang="en-US" sz="1200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897687"/>
            <a:ext cx="6522698" cy="3857307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274762" y="4754994"/>
            <a:ext cx="6624736" cy="19143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/>
              <a:t>사이트만들어는 과정 </a:t>
            </a:r>
            <a:r>
              <a:rPr lang="en-US" altLang="ko-KR" sz="1050" dirty="0" smtClean="0"/>
              <a:t>: </a:t>
            </a:r>
            <a:r>
              <a:rPr lang="ko-KR" altLang="en-US" sz="1050" dirty="0" err="1" smtClean="0"/>
              <a:t>제작중이야</a:t>
            </a:r>
            <a:r>
              <a:rPr lang="en-US" altLang="ko-KR" sz="1050" dirty="0" smtClean="0"/>
              <a:t>? </a:t>
            </a:r>
            <a:r>
              <a:rPr lang="ko-KR" altLang="en-US" sz="1050" dirty="0" smtClean="0"/>
              <a:t>다 만들었어</a:t>
            </a:r>
            <a:r>
              <a:rPr lang="en-US" altLang="ko-KR" sz="1050" dirty="0" smtClean="0"/>
              <a:t>? </a:t>
            </a:r>
            <a:r>
              <a:rPr lang="ko-KR" altLang="en-US" sz="1050" dirty="0" smtClean="0"/>
              <a:t>만들어서 </a:t>
            </a:r>
            <a:r>
              <a:rPr lang="ko-KR" altLang="en-US" sz="1050" dirty="0" err="1" smtClean="0"/>
              <a:t>공개중</a:t>
            </a:r>
            <a:r>
              <a:rPr lang="en-US" altLang="ko-KR" sz="1050" dirty="0" smtClean="0"/>
              <a:t>? </a:t>
            </a:r>
            <a:r>
              <a:rPr lang="ko-KR" altLang="en-US" sz="1050" dirty="0" err="1" smtClean="0"/>
              <a:t>배포중</a:t>
            </a:r>
            <a:r>
              <a:rPr lang="en-US" altLang="ko-KR" sz="1050" dirty="0" smtClean="0"/>
              <a:t>? </a:t>
            </a:r>
            <a:r>
              <a:rPr lang="ko-KR" altLang="en-US" sz="1050" dirty="0" err="1" smtClean="0"/>
              <a:t>구독중</a:t>
            </a:r>
            <a:r>
              <a:rPr lang="en-US" altLang="ko-KR" sz="1050" dirty="0" smtClean="0"/>
              <a:t>? </a:t>
            </a:r>
            <a:r>
              <a:rPr lang="ko-KR" altLang="en-US" sz="1050" dirty="0" err="1" smtClean="0"/>
              <a:t>정지중</a:t>
            </a:r>
            <a:r>
              <a:rPr lang="en-US" altLang="ko-KR" sz="1050" dirty="0" smtClean="0"/>
              <a:t>? </a:t>
            </a:r>
            <a:r>
              <a:rPr lang="ko-KR" altLang="en-US" sz="1050" dirty="0" err="1" smtClean="0"/>
              <a:t>취소됬어</a:t>
            </a:r>
            <a:r>
              <a:rPr lang="en-US" altLang="ko-KR" sz="1050" dirty="0" smtClean="0"/>
              <a:t>?</a:t>
            </a:r>
          </a:p>
          <a:p>
            <a:pPr marL="171450" indent="-171450" algn="ctr">
              <a:buFont typeface="Wingdings" panose="05000000000000000000" pitchFamily="2" charset="2"/>
              <a:buChar char="è"/>
            </a:pPr>
            <a:r>
              <a:rPr lang="ko-KR" altLang="en-US" sz="1050" dirty="0" err="1" smtClean="0">
                <a:sym typeface="Wingdings" panose="05000000000000000000" pitchFamily="2" charset="2"/>
              </a:rPr>
              <a:t>취소되서</a:t>
            </a:r>
            <a:r>
              <a:rPr lang="ko-KR" altLang="en-US" sz="1050" dirty="0" smtClean="0">
                <a:sym typeface="Wingdings" panose="05000000000000000000" pitchFamily="2" charset="2"/>
              </a:rPr>
              <a:t> 정지</a:t>
            </a:r>
            <a:r>
              <a:rPr lang="en-US" altLang="ko-KR" sz="1050" dirty="0" smtClean="0">
                <a:sym typeface="Wingdings" panose="05000000000000000000" pitchFamily="2" charset="2"/>
              </a:rPr>
              <a:t>, </a:t>
            </a:r>
            <a:r>
              <a:rPr lang="ko-KR" altLang="en-US" sz="1050" dirty="0" err="1" smtClean="0">
                <a:sym typeface="Wingdings" panose="05000000000000000000" pitchFamily="2" charset="2"/>
              </a:rPr>
              <a:t>돈안내서</a:t>
            </a:r>
            <a:r>
              <a:rPr lang="ko-KR" altLang="en-US" sz="1050" dirty="0" smtClean="0">
                <a:sym typeface="Wingdings" panose="05000000000000000000" pitchFamily="2" charset="2"/>
              </a:rPr>
              <a:t> 정지</a:t>
            </a:r>
            <a:endParaRPr lang="en-US" altLang="ko-KR" sz="1050" dirty="0" smtClean="0"/>
          </a:p>
          <a:p>
            <a:pPr algn="ctr"/>
            <a:r>
              <a:rPr lang="ko-KR" altLang="en-US" sz="1050" dirty="0" smtClean="0"/>
              <a:t>사이트가 </a:t>
            </a:r>
            <a:r>
              <a:rPr lang="ko-KR" altLang="en-US" sz="1050" dirty="0" err="1" smtClean="0"/>
              <a:t>배포상태</a:t>
            </a:r>
            <a:r>
              <a:rPr lang="ko-KR" altLang="en-US" sz="1050" dirty="0" smtClean="0"/>
              <a:t> </a:t>
            </a:r>
            <a:r>
              <a:rPr lang="en-US" altLang="ko-KR" sz="1050" dirty="0" smtClean="0"/>
              <a:t>: </a:t>
            </a:r>
            <a:r>
              <a:rPr lang="ko-KR" altLang="en-US" sz="1050" dirty="0" smtClean="0"/>
              <a:t>어디까지 </a:t>
            </a:r>
            <a:r>
              <a:rPr lang="ko-KR" altLang="en-US" sz="1050" dirty="0" err="1" smtClean="0"/>
              <a:t>떻있나</a:t>
            </a:r>
            <a:r>
              <a:rPr lang="en-US" altLang="ko-KR" sz="1050" dirty="0" smtClean="0"/>
              <a:t>, </a:t>
            </a:r>
            <a:r>
              <a:rPr lang="ko-KR" altLang="en-US" sz="1050" dirty="0" smtClean="0"/>
              <a:t>권한</a:t>
            </a:r>
            <a:endParaRPr lang="en-US" altLang="ko-KR" sz="1050" dirty="0" smtClean="0"/>
          </a:p>
          <a:p>
            <a:pPr algn="ctr"/>
            <a:r>
              <a:rPr lang="en-US" altLang="ko-KR" sz="1050" dirty="0" smtClean="0"/>
              <a:t>-------------------------------------------------------------------------------------------------------</a:t>
            </a:r>
            <a:endParaRPr lang="en-US" altLang="ko-KR" sz="1050" dirty="0"/>
          </a:p>
          <a:p>
            <a:pPr algn="ctr"/>
            <a:r>
              <a:rPr lang="ko-KR" altLang="en-US" sz="1050" dirty="0" smtClean="0"/>
              <a:t>생명주기 심플하게 안되나</a:t>
            </a:r>
            <a:r>
              <a:rPr lang="en-US" altLang="ko-KR" sz="1050" dirty="0" smtClean="0"/>
              <a:t>???  </a:t>
            </a:r>
          </a:p>
          <a:p>
            <a:pPr algn="ctr"/>
            <a:r>
              <a:rPr lang="ko-KR" altLang="en-US" sz="1050" dirty="0" smtClean="0"/>
              <a:t>사이트 제작</a:t>
            </a:r>
            <a:r>
              <a:rPr lang="en-US" altLang="ko-KR" sz="1050" dirty="0" smtClean="0"/>
              <a:t>&gt; </a:t>
            </a:r>
            <a:r>
              <a:rPr lang="ko-KR" altLang="en-US" sz="1050" dirty="0" smtClean="0"/>
              <a:t>제작완료</a:t>
            </a:r>
            <a:r>
              <a:rPr lang="en-US" altLang="ko-KR" sz="1050" dirty="0" smtClean="0"/>
              <a:t>(</a:t>
            </a:r>
            <a:r>
              <a:rPr lang="ko-KR" altLang="en-US" sz="1050" dirty="0" smtClean="0"/>
              <a:t>부분공개</a:t>
            </a:r>
            <a:r>
              <a:rPr lang="en-US" altLang="ko-KR" sz="1050" dirty="0" smtClean="0"/>
              <a:t>) &gt; </a:t>
            </a:r>
            <a:r>
              <a:rPr lang="ko-KR" altLang="en-US" sz="1050" dirty="0" smtClean="0"/>
              <a:t>배포</a:t>
            </a:r>
            <a:r>
              <a:rPr lang="en-US" altLang="ko-KR" sz="1050" dirty="0" smtClean="0"/>
              <a:t>(</a:t>
            </a:r>
            <a:r>
              <a:rPr lang="ko-KR" altLang="en-US" sz="1050" dirty="0" smtClean="0"/>
              <a:t>전체공개</a:t>
            </a:r>
            <a:r>
              <a:rPr lang="en-US" altLang="ko-KR" sz="1050" dirty="0" smtClean="0"/>
              <a:t>) &gt; ( </a:t>
            </a:r>
            <a:r>
              <a:rPr lang="ko-KR" altLang="en-US" sz="1050" dirty="0" smtClean="0"/>
              <a:t>체험</a:t>
            </a:r>
            <a:r>
              <a:rPr lang="en-US" altLang="ko-KR" sz="1050" dirty="0" smtClean="0"/>
              <a:t>(</a:t>
            </a:r>
            <a:r>
              <a:rPr lang="ko-KR" altLang="en-US" sz="1050" dirty="0" smtClean="0"/>
              <a:t>계좌</a:t>
            </a:r>
            <a:r>
              <a:rPr lang="en-US" altLang="ko-KR" sz="1050" dirty="0" smtClean="0"/>
              <a:t>, </a:t>
            </a:r>
            <a:r>
              <a:rPr lang="ko-KR" altLang="en-US" sz="1050" dirty="0" err="1" smtClean="0"/>
              <a:t>카드등록</a:t>
            </a:r>
            <a:r>
              <a:rPr lang="en-US" altLang="ko-KR" sz="1050" dirty="0" smtClean="0"/>
              <a:t>) &gt; </a:t>
            </a:r>
            <a:r>
              <a:rPr lang="ko-KR" altLang="en-US" sz="1050" dirty="0" err="1" smtClean="0"/>
              <a:t>사용안함</a:t>
            </a:r>
            <a:r>
              <a:rPr lang="ko-KR" altLang="en-US" sz="1050" dirty="0" smtClean="0"/>
              <a:t> </a:t>
            </a:r>
            <a:r>
              <a:rPr lang="en-US" altLang="ko-KR" sz="1050" dirty="0" smtClean="0"/>
              <a:t>or </a:t>
            </a:r>
            <a:r>
              <a:rPr lang="ko-KR" altLang="en-US" sz="1050" dirty="0" smtClean="0"/>
              <a:t>구독</a:t>
            </a:r>
            <a:r>
              <a:rPr lang="en-US" altLang="ko-KR" sz="1050" dirty="0" smtClean="0"/>
              <a:t>(</a:t>
            </a:r>
            <a:r>
              <a:rPr lang="ko-KR" altLang="en-US" sz="1050" dirty="0" smtClean="0"/>
              <a:t>결제</a:t>
            </a:r>
            <a:r>
              <a:rPr lang="en-US" altLang="ko-KR" sz="1050" dirty="0" smtClean="0"/>
              <a:t>) &gt; </a:t>
            </a:r>
            <a:r>
              <a:rPr lang="ko-KR" altLang="en-US" sz="1050" dirty="0" smtClean="0"/>
              <a:t>정지</a:t>
            </a:r>
            <a:r>
              <a:rPr lang="en-US" altLang="ko-KR" sz="1050" dirty="0" smtClean="0"/>
              <a:t>)</a:t>
            </a:r>
          </a:p>
          <a:p>
            <a:pPr algn="ctr"/>
            <a:endParaRPr lang="en-US" altLang="ko-KR" sz="1050" dirty="0"/>
          </a:p>
          <a:p>
            <a:pPr algn="ctr"/>
            <a:r>
              <a:rPr lang="ko-KR" altLang="en-US" sz="1050" dirty="0" smtClean="0"/>
              <a:t>그리고 상태를 간단히 정의  </a:t>
            </a:r>
            <a:r>
              <a:rPr lang="en-US" altLang="ko-KR" sz="1050" dirty="0" smtClean="0"/>
              <a:t>:</a:t>
            </a:r>
          </a:p>
          <a:p>
            <a:pPr algn="ctr"/>
            <a:r>
              <a:rPr lang="en-US" altLang="ko-KR" sz="1050" dirty="0" smtClean="0"/>
              <a:t> </a:t>
            </a:r>
            <a:r>
              <a:rPr lang="ko-KR" altLang="en-US" sz="1050" dirty="0" smtClean="0"/>
              <a:t>구독</a:t>
            </a:r>
            <a:r>
              <a:rPr lang="en-US" altLang="ko-KR" sz="1050" dirty="0" smtClean="0"/>
              <a:t>: </a:t>
            </a:r>
            <a:r>
              <a:rPr lang="ko-KR" altLang="en-US" sz="1050" dirty="0" smtClean="0"/>
              <a:t>구중</a:t>
            </a:r>
            <a:r>
              <a:rPr lang="en-US" altLang="ko-KR" sz="1050" dirty="0" smtClean="0"/>
              <a:t>,</a:t>
            </a:r>
            <a:r>
              <a:rPr lang="ko-KR" altLang="en-US" sz="1050" dirty="0" smtClean="0"/>
              <a:t>정지  </a:t>
            </a:r>
            <a:endParaRPr lang="en-US" altLang="ko-KR" sz="1050" dirty="0" smtClean="0"/>
          </a:p>
          <a:p>
            <a:pPr algn="ctr"/>
            <a:endParaRPr lang="ko-KR" altLang="en-US" sz="1050" dirty="0"/>
          </a:p>
        </p:txBody>
      </p:sp>
      <p:sp>
        <p:nvSpPr>
          <p:cNvPr id="10" name="직사각형 9"/>
          <p:cNvSpPr/>
          <p:nvPr/>
        </p:nvSpPr>
        <p:spPr>
          <a:xfrm>
            <a:off x="7452320" y="1628800"/>
            <a:ext cx="1152128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제작</a:t>
            </a:r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7452320" y="2276872"/>
            <a:ext cx="1152128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완료</a:t>
            </a:r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7452320" y="2960514"/>
            <a:ext cx="1152128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부분공개</a:t>
            </a:r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7462936" y="3573016"/>
            <a:ext cx="1152128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공개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8545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60352" y="209119"/>
            <a:ext cx="4968552" cy="2938237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4282232" y="1201292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제작</a:t>
            </a:r>
            <a:endParaRPr lang="ko-KR" altLang="en-US" sz="1000" dirty="0"/>
          </a:p>
        </p:txBody>
      </p:sp>
      <p:sp>
        <p:nvSpPr>
          <p:cNvPr id="4" name="직사각형 3"/>
          <p:cNvSpPr/>
          <p:nvPr/>
        </p:nvSpPr>
        <p:spPr>
          <a:xfrm>
            <a:off x="4282232" y="1567143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/>
              <a:t>완료</a:t>
            </a:r>
            <a:endParaRPr lang="ko-KR" altLang="en-US" sz="1000"/>
          </a:p>
        </p:txBody>
      </p:sp>
      <p:sp>
        <p:nvSpPr>
          <p:cNvPr id="5" name="직사각형 4"/>
          <p:cNvSpPr/>
          <p:nvPr/>
        </p:nvSpPr>
        <p:spPr>
          <a:xfrm>
            <a:off x="5506368" y="1989239"/>
            <a:ext cx="853480" cy="573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부분공개</a:t>
            </a:r>
            <a:endParaRPr lang="ko-KR" altLang="en-US" sz="1000" dirty="0"/>
          </a:p>
        </p:txBody>
      </p:sp>
      <p:sp>
        <p:nvSpPr>
          <p:cNvPr id="6" name="직사각형 5"/>
          <p:cNvSpPr/>
          <p:nvPr/>
        </p:nvSpPr>
        <p:spPr>
          <a:xfrm>
            <a:off x="4282232" y="3113129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/>
              <a:t>구독</a:t>
            </a:r>
            <a:endParaRPr lang="ko-KR" alt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4354240" y="226721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 smtClean="0"/>
              <a:t>사이트상태</a:t>
            </a:r>
            <a:endParaRPr lang="ko-KR" altLang="en-US" sz="1400" dirty="0"/>
          </a:p>
        </p:txBody>
      </p:sp>
      <p:sp>
        <p:nvSpPr>
          <p:cNvPr id="9" name="직사각형 8"/>
          <p:cNvSpPr/>
          <p:nvPr/>
        </p:nvSpPr>
        <p:spPr>
          <a:xfrm>
            <a:off x="683568" y="3586950"/>
            <a:ext cx="936104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 smtClean="0"/>
              <a:t>대리제작</a:t>
            </a:r>
            <a:endParaRPr lang="ko-KR" altLang="en-US" sz="1100" dirty="0"/>
          </a:p>
        </p:txBody>
      </p:sp>
      <p:sp>
        <p:nvSpPr>
          <p:cNvPr id="10" name="직사각형 9"/>
          <p:cNvSpPr/>
          <p:nvPr/>
        </p:nvSpPr>
        <p:spPr>
          <a:xfrm>
            <a:off x="2051720" y="3573016"/>
            <a:ext cx="936104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 smtClean="0"/>
              <a:t>셀프제작</a:t>
            </a:r>
            <a:endParaRPr lang="ko-KR" altLang="en-US" sz="1100" dirty="0"/>
          </a:p>
        </p:txBody>
      </p:sp>
      <p:sp>
        <p:nvSpPr>
          <p:cNvPr id="11" name="직사각형 10"/>
          <p:cNvSpPr/>
          <p:nvPr/>
        </p:nvSpPr>
        <p:spPr>
          <a:xfrm>
            <a:off x="4286136" y="2340786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 smtClean="0"/>
              <a:t>카드</a:t>
            </a:r>
            <a:r>
              <a:rPr lang="en-US" altLang="ko-KR" sz="700" dirty="0" smtClean="0"/>
              <a:t>/</a:t>
            </a:r>
            <a:r>
              <a:rPr lang="ko-KR" altLang="en-US" sz="700" dirty="0" smtClean="0"/>
              <a:t>계좌 등록</a:t>
            </a:r>
            <a:endParaRPr lang="ko-KR" altLang="en-US" sz="700" dirty="0"/>
          </a:p>
        </p:txBody>
      </p:sp>
      <p:sp>
        <p:nvSpPr>
          <p:cNvPr id="12" name="직사각형 11"/>
          <p:cNvSpPr/>
          <p:nvPr/>
        </p:nvSpPr>
        <p:spPr>
          <a:xfrm>
            <a:off x="4282232" y="2699526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체험</a:t>
            </a:r>
            <a:endParaRPr lang="ko-KR" altLang="en-US" sz="1000" dirty="0"/>
          </a:p>
        </p:txBody>
      </p:sp>
      <p:sp>
        <p:nvSpPr>
          <p:cNvPr id="13" name="직사각형 12"/>
          <p:cNvSpPr/>
          <p:nvPr/>
        </p:nvSpPr>
        <p:spPr>
          <a:xfrm>
            <a:off x="4283968" y="3531193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정지</a:t>
            </a:r>
            <a:endParaRPr lang="ko-KR" altLang="en-US" sz="1000" dirty="0"/>
          </a:p>
        </p:txBody>
      </p:sp>
      <p:sp>
        <p:nvSpPr>
          <p:cNvPr id="14" name="직사각형 13"/>
          <p:cNvSpPr/>
          <p:nvPr/>
        </p:nvSpPr>
        <p:spPr>
          <a:xfrm>
            <a:off x="4282232" y="1989239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검토</a:t>
            </a:r>
            <a:endParaRPr lang="ko-KR" altLang="en-US" sz="1000" dirty="0"/>
          </a:p>
        </p:txBody>
      </p:sp>
      <p:sp>
        <p:nvSpPr>
          <p:cNvPr id="15" name="직사각형 14"/>
          <p:cNvSpPr/>
          <p:nvPr/>
        </p:nvSpPr>
        <p:spPr>
          <a:xfrm>
            <a:off x="5506368" y="2699525"/>
            <a:ext cx="853480" cy="6354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공개</a:t>
            </a:r>
            <a:endParaRPr lang="ko-KR" altLang="en-US" sz="1000" dirty="0"/>
          </a:p>
        </p:txBody>
      </p:sp>
      <p:sp>
        <p:nvSpPr>
          <p:cNvPr id="16" name="직사각형 15"/>
          <p:cNvSpPr/>
          <p:nvPr/>
        </p:nvSpPr>
        <p:spPr>
          <a:xfrm>
            <a:off x="5506368" y="3531192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미공개</a:t>
            </a:r>
            <a:endParaRPr lang="ko-KR" altLang="en-US" sz="1000" dirty="0"/>
          </a:p>
        </p:txBody>
      </p:sp>
      <p:sp>
        <p:nvSpPr>
          <p:cNvPr id="17" name="직사각형 16"/>
          <p:cNvSpPr/>
          <p:nvPr/>
        </p:nvSpPr>
        <p:spPr>
          <a:xfrm>
            <a:off x="7134568" y="538745"/>
            <a:ext cx="853480" cy="22183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/>
              <a:t>대리제작접수</a:t>
            </a:r>
            <a:endParaRPr lang="ko-KR" altLang="en-US" sz="800" dirty="0"/>
          </a:p>
        </p:txBody>
      </p:sp>
      <p:sp>
        <p:nvSpPr>
          <p:cNvPr id="18" name="직사각형 17"/>
          <p:cNvSpPr/>
          <p:nvPr/>
        </p:nvSpPr>
        <p:spPr>
          <a:xfrm>
            <a:off x="7134568" y="917460"/>
            <a:ext cx="853480" cy="22183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/>
              <a:t>견적</a:t>
            </a:r>
            <a:endParaRPr lang="ko-KR" altLang="en-US" sz="800" dirty="0"/>
          </a:p>
        </p:txBody>
      </p:sp>
      <p:sp>
        <p:nvSpPr>
          <p:cNvPr id="19" name="직사각형 18"/>
          <p:cNvSpPr/>
          <p:nvPr/>
        </p:nvSpPr>
        <p:spPr>
          <a:xfrm>
            <a:off x="7134568" y="1287478"/>
            <a:ext cx="853480" cy="22183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선금</a:t>
            </a:r>
            <a:endParaRPr lang="ko-KR" altLang="en-US" sz="1000" dirty="0"/>
          </a:p>
        </p:txBody>
      </p:sp>
      <p:sp>
        <p:nvSpPr>
          <p:cNvPr id="20" name="직사각형 19"/>
          <p:cNvSpPr/>
          <p:nvPr/>
        </p:nvSpPr>
        <p:spPr>
          <a:xfrm>
            <a:off x="7145576" y="1678238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제작</a:t>
            </a:r>
            <a:endParaRPr lang="ko-KR" altLang="en-US" sz="1000" dirty="0"/>
          </a:p>
        </p:txBody>
      </p:sp>
      <p:sp>
        <p:nvSpPr>
          <p:cNvPr id="21" name="직사각형 20"/>
          <p:cNvSpPr/>
          <p:nvPr/>
        </p:nvSpPr>
        <p:spPr>
          <a:xfrm>
            <a:off x="7160816" y="2757727"/>
            <a:ext cx="853480" cy="22183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잔금</a:t>
            </a:r>
            <a:endParaRPr lang="ko-KR" altLang="en-US" sz="1000" dirty="0"/>
          </a:p>
        </p:txBody>
      </p:sp>
      <p:sp>
        <p:nvSpPr>
          <p:cNvPr id="22" name="직사각형 21"/>
          <p:cNvSpPr/>
          <p:nvPr/>
        </p:nvSpPr>
        <p:spPr>
          <a:xfrm>
            <a:off x="7134568" y="2063968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/>
              <a:t>완료</a:t>
            </a:r>
            <a:endParaRPr lang="ko-KR" altLang="en-US" sz="1000"/>
          </a:p>
        </p:txBody>
      </p:sp>
      <p:sp>
        <p:nvSpPr>
          <p:cNvPr id="25" name="직사각형 24"/>
          <p:cNvSpPr/>
          <p:nvPr/>
        </p:nvSpPr>
        <p:spPr>
          <a:xfrm>
            <a:off x="7160816" y="2381869"/>
            <a:ext cx="853480" cy="22183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검토</a:t>
            </a:r>
            <a:endParaRPr lang="ko-KR" altLang="en-US" sz="1000" dirty="0"/>
          </a:p>
        </p:txBody>
      </p:sp>
      <p:sp>
        <p:nvSpPr>
          <p:cNvPr id="26" name="직사각형 25"/>
          <p:cNvSpPr/>
          <p:nvPr/>
        </p:nvSpPr>
        <p:spPr>
          <a:xfrm>
            <a:off x="7159596" y="3947040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/>
              <a:t>구독</a:t>
            </a:r>
            <a:endParaRPr lang="ko-KR" altLang="en-US" sz="1000" dirty="0"/>
          </a:p>
        </p:txBody>
      </p:sp>
      <p:sp>
        <p:nvSpPr>
          <p:cNvPr id="27" name="직사각형 26"/>
          <p:cNvSpPr/>
          <p:nvPr/>
        </p:nvSpPr>
        <p:spPr>
          <a:xfrm>
            <a:off x="7163500" y="3174697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 smtClean="0"/>
              <a:t>카드</a:t>
            </a:r>
            <a:r>
              <a:rPr lang="en-US" altLang="ko-KR" sz="700" dirty="0" smtClean="0"/>
              <a:t>/</a:t>
            </a:r>
            <a:r>
              <a:rPr lang="ko-KR" altLang="en-US" sz="700" dirty="0" smtClean="0"/>
              <a:t>계좌 등록</a:t>
            </a:r>
            <a:endParaRPr lang="ko-KR" altLang="en-US" sz="700" dirty="0"/>
          </a:p>
        </p:txBody>
      </p:sp>
      <p:sp>
        <p:nvSpPr>
          <p:cNvPr id="28" name="직사각형 27"/>
          <p:cNvSpPr/>
          <p:nvPr/>
        </p:nvSpPr>
        <p:spPr>
          <a:xfrm>
            <a:off x="7159596" y="3533437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체험</a:t>
            </a:r>
            <a:endParaRPr lang="ko-KR" altLang="en-US" sz="1000" dirty="0"/>
          </a:p>
        </p:txBody>
      </p:sp>
      <p:sp>
        <p:nvSpPr>
          <p:cNvPr id="29" name="직사각형 28"/>
          <p:cNvSpPr/>
          <p:nvPr/>
        </p:nvSpPr>
        <p:spPr>
          <a:xfrm>
            <a:off x="7145576" y="4385742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정지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479046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5243448" y="890159"/>
            <a:ext cx="853480" cy="22183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/>
              <a:t>대리제작접수</a:t>
            </a:r>
            <a:endParaRPr lang="ko-KR" altLang="en-US" sz="800" dirty="0"/>
          </a:p>
        </p:txBody>
      </p:sp>
      <p:sp>
        <p:nvSpPr>
          <p:cNvPr id="7" name="직사각형 6"/>
          <p:cNvSpPr/>
          <p:nvPr/>
        </p:nvSpPr>
        <p:spPr>
          <a:xfrm>
            <a:off x="5243448" y="1268874"/>
            <a:ext cx="853480" cy="22183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/>
              <a:t>견적</a:t>
            </a:r>
            <a:endParaRPr lang="ko-KR" altLang="en-US" sz="800" dirty="0"/>
          </a:p>
        </p:txBody>
      </p:sp>
      <p:sp>
        <p:nvSpPr>
          <p:cNvPr id="8" name="직사각형 7"/>
          <p:cNvSpPr/>
          <p:nvPr/>
        </p:nvSpPr>
        <p:spPr>
          <a:xfrm>
            <a:off x="5243448" y="1638892"/>
            <a:ext cx="853480" cy="22183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선금</a:t>
            </a:r>
            <a:endParaRPr lang="ko-KR" altLang="en-US" sz="1000" dirty="0"/>
          </a:p>
        </p:txBody>
      </p:sp>
      <p:sp>
        <p:nvSpPr>
          <p:cNvPr id="9" name="직사각형 8"/>
          <p:cNvSpPr/>
          <p:nvPr/>
        </p:nvSpPr>
        <p:spPr>
          <a:xfrm>
            <a:off x="5254456" y="2029652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제작</a:t>
            </a:r>
            <a:endParaRPr lang="ko-KR" altLang="en-US" sz="1000" dirty="0"/>
          </a:p>
        </p:txBody>
      </p:sp>
      <p:sp>
        <p:nvSpPr>
          <p:cNvPr id="10" name="직사각형 9"/>
          <p:cNvSpPr/>
          <p:nvPr/>
        </p:nvSpPr>
        <p:spPr>
          <a:xfrm>
            <a:off x="5269696" y="3109141"/>
            <a:ext cx="853480" cy="22183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잔금</a:t>
            </a:r>
            <a:endParaRPr lang="ko-KR" altLang="en-US" sz="1000" dirty="0"/>
          </a:p>
        </p:txBody>
      </p:sp>
      <p:sp>
        <p:nvSpPr>
          <p:cNvPr id="11" name="직사각형 10"/>
          <p:cNvSpPr/>
          <p:nvPr/>
        </p:nvSpPr>
        <p:spPr>
          <a:xfrm>
            <a:off x="5243448" y="2415382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완료</a:t>
            </a:r>
            <a:endParaRPr lang="ko-KR" altLang="en-US" sz="1000" dirty="0"/>
          </a:p>
        </p:txBody>
      </p:sp>
      <p:sp>
        <p:nvSpPr>
          <p:cNvPr id="12" name="직사각형 11"/>
          <p:cNvSpPr/>
          <p:nvPr/>
        </p:nvSpPr>
        <p:spPr>
          <a:xfrm>
            <a:off x="5269696" y="2733283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검토</a:t>
            </a:r>
            <a:endParaRPr lang="ko-KR" altLang="en-US" sz="1000" dirty="0"/>
          </a:p>
        </p:txBody>
      </p:sp>
      <p:sp>
        <p:nvSpPr>
          <p:cNvPr id="13" name="직사각형 12"/>
          <p:cNvSpPr/>
          <p:nvPr/>
        </p:nvSpPr>
        <p:spPr>
          <a:xfrm>
            <a:off x="5268476" y="4298454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/>
              <a:t>구독</a:t>
            </a:r>
            <a:endParaRPr lang="ko-KR" altLang="en-US" sz="1000" dirty="0"/>
          </a:p>
        </p:txBody>
      </p:sp>
      <p:sp>
        <p:nvSpPr>
          <p:cNvPr id="14" name="직사각형 13"/>
          <p:cNvSpPr/>
          <p:nvPr/>
        </p:nvSpPr>
        <p:spPr>
          <a:xfrm>
            <a:off x="5272380" y="3526111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 smtClean="0"/>
              <a:t>카드</a:t>
            </a:r>
            <a:r>
              <a:rPr lang="en-US" altLang="ko-KR" sz="700" dirty="0" smtClean="0"/>
              <a:t>/</a:t>
            </a:r>
            <a:r>
              <a:rPr lang="ko-KR" altLang="en-US" sz="700" dirty="0" smtClean="0"/>
              <a:t>계좌 등록</a:t>
            </a:r>
            <a:endParaRPr lang="ko-KR" altLang="en-US" sz="700" dirty="0"/>
          </a:p>
        </p:txBody>
      </p:sp>
      <p:sp>
        <p:nvSpPr>
          <p:cNvPr id="15" name="직사각형 14"/>
          <p:cNvSpPr/>
          <p:nvPr/>
        </p:nvSpPr>
        <p:spPr>
          <a:xfrm>
            <a:off x="5268476" y="3884851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체험</a:t>
            </a:r>
            <a:endParaRPr lang="ko-KR" altLang="en-US" sz="1000" dirty="0"/>
          </a:p>
        </p:txBody>
      </p:sp>
      <p:sp>
        <p:nvSpPr>
          <p:cNvPr id="16" name="직사각형 15"/>
          <p:cNvSpPr/>
          <p:nvPr/>
        </p:nvSpPr>
        <p:spPr>
          <a:xfrm>
            <a:off x="5254456" y="4737156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정지</a:t>
            </a:r>
            <a:endParaRPr lang="ko-KR" altLang="en-US" sz="1000" dirty="0"/>
          </a:p>
        </p:txBody>
      </p:sp>
      <p:sp>
        <p:nvSpPr>
          <p:cNvPr id="17" name="직사각형 16"/>
          <p:cNvSpPr/>
          <p:nvPr/>
        </p:nvSpPr>
        <p:spPr>
          <a:xfrm>
            <a:off x="6971640" y="2029652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제작</a:t>
            </a:r>
            <a:endParaRPr lang="ko-KR" altLang="en-US" sz="1000" dirty="0"/>
          </a:p>
        </p:txBody>
      </p:sp>
      <p:sp>
        <p:nvSpPr>
          <p:cNvPr id="18" name="직사각형 17"/>
          <p:cNvSpPr/>
          <p:nvPr/>
        </p:nvSpPr>
        <p:spPr>
          <a:xfrm>
            <a:off x="6960632" y="2415382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완료</a:t>
            </a:r>
            <a:endParaRPr lang="ko-KR" altLang="en-US" sz="1000" dirty="0"/>
          </a:p>
        </p:txBody>
      </p:sp>
      <p:sp>
        <p:nvSpPr>
          <p:cNvPr id="19" name="직사각형 18"/>
          <p:cNvSpPr/>
          <p:nvPr/>
        </p:nvSpPr>
        <p:spPr>
          <a:xfrm>
            <a:off x="6986880" y="2733283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검토</a:t>
            </a:r>
            <a:endParaRPr lang="ko-KR" altLang="en-US" sz="1000" dirty="0"/>
          </a:p>
        </p:txBody>
      </p:sp>
      <p:sp>
        <p:nvSpPr>
          <p:cNvPr id="20" name="직사각형 19"/>
          <p:cNvSpPr/>
          <p:nvPr/>
        </p:nvSpPr>
        <p:spPr>
          <a:xfrm>
            <a:off x="6985660" y="4298454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/>
              <a:t>구독</a:t>
            </a:r>
            <a:endParaRPr lang="ko-KR" altLang="en-US" sz="1000" dirty="0"/>
          </a:p>
        </p:txBody>
      </p:sp>
      <p:sp>
        <p:nvSpPr>
          <p:cNvPr id="21" name="직사각형 20"/>
          <p:cNvSpPr/>
          <p:nvPr/>
        </p:nvSpPr>
        <p:spPr>
          <a:xfrm>
            <a:off x="6989564" y="3526111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 smtClean="0"/>
              <a:t>카드</a:t>
            </a:r>
            <a:r>
              <a:rPr lang="en-US" altLang="ko-KR" sz="700" dirty="0" smtClean="0"/>
              <a:t>/</a:t>
            </a:r>
            <a:r>
              <a:rPr lang="ko-KR" altLang="en-US" sz="700" dirty="0" smtClean="0"/>
              <a:t>계좌 등록</a:t>
            </a:r>
            <a:endParaRPr lang="ko-KR" altLang="en-US" sz="700" dirty="0"/>
          </a:p>
        </p:txBody>
      </p:sp>
      <p:sp>
        <p:nvSpPr>
          <p:cNvPr id="22" name="직사각형 21"/>
          <p:cNvSpPr/>
          <p:nvPr/>
        </p:nvSpPr>
        <p:spPr>
          <a:xfrm>
            <a:off x="6985660" y="3884851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체험</a:t>
            </a:r>
            <a:endParaRPr lang="ko-KR" altLang="en-US" sz="1000" dirty="0"/>
          </a:p>
        </p:txBody>
      </p:sp>
      <p:sp>
        <p:nvSpPr>
          <p:cNvPr id="23" name="직사각형 22"/>
          <p:cNvSpPr/>
          <p:nvPr/>
        </p:nvSpPr>
        <p:spPr>
          <a:xfrm>
            <a:off x="6971640" y="4737156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정지</a:t>
            </a:r>
            <a:endParaRPr lang="ko-KR" altLang="en-US" sz="1000" dirty="0"/>
          </a:p>
        </p:txBody>
      </p:sp>
      <p:sp>
        <p:nvSpPr>
          <p:cNvPr id="24" name="직사각형 23"/>
          <p:cNvSpPr/>
          <p:nvPr/>
        </p:nvSpPr>
        <p:spPr>
          <a:xfrm>
            <a:off x="5202136" y="332656"/>
            <a:ext cx="936104" cy="2880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 smtClean="0"/>
              <a:t>대리제작</a:t>
            </a:r>
            <a:endParaRPr lang="ko-KR" altLang="en-US" sz="1100" dirty="0"/>
          </a:p>
        </p:txBody>
      </p:sp>
      <p:sp>
        <p:nvSpPr>
          <p:cNvPr id="25" name="직사각형 24"/>
          <p:cNvSpPr/>
          <p:nvPr/>
        </p:nvSpPr>
        <p:spPr>
          <a:xfrm>
            <a:off x="6960632" y="315443"/>
            <a:ext cx="936104" cy="2880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 smtClean="0"/>
              <a:t>셀프제작</a:t>
            </a:r>
            <a:endParaRPr lang="ko-KR" altLang="en-US" sz="1100" dirty="0"/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71793" y="1996875"/>
            <a:ext cx="8376565" cy="495362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55576" y="4409371"/>
            <a:ext cx="3528392" cy="761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smtClean="0"/>
              <a:t>사이트</a:t>
            </a:r>
            <a:r>
              <a:rPr lang="en-US" altLang="ko-KR" sz="1050" dirty="0" smtClean="0"/>
              <a:t>1 … … </a:t>
            </a:r>
            <a:r>
              <a:rPr lang="ko-KR" altLang="en-US" sz="1050" dirty="0" err="1" smtClean="0"/>
              <a:t>대리접수</a:t>
            </a:r>
            <a:r>
              <a:rPr lang="ko-KR" altLang="en-US" sz="1050" dirty="0" smtClean="0"/>
              <a:t> 상태</a:t>
            </a:r>
            <a:r>
              <a:rPr lang="en-US" altLang="ko-KR" sz="1050" dirty="0" smtClean="0"/>
              <a:t>(</a:t>
            </a:r>
            <a:r>
              <a:rPr lang="ko-KR" altLang="en-US" sz="1050" dirty="0" smtClean="0"/>
              <a:t>대리제작접수</a:t>
            </a:r>
            <a:r>
              <a:rPr lang="en-US" altLang="ko-KR" sz="1050" dirty="0" smtClean="0"/>
              <a:t>)</a:t>
            </a:r>
          </a:p>
          <a:p>
            <a:r>
              <a:rPr lang="ko-KR" altLang="en-US" sz="1050" dirty="0" smtClean="0"/>
              <a:t>사이트</a:t>
            </a:r>
            <a:r>
              <a:rPr lang="en-US" altLang="ko-KR" sz="1050" dirty="0" smtClean="0"/>
              <a:t>2 </a:t>
            </a:r>
            <a:r>
              <a:rPr lang="en-US" altLang="ko-KR" sz="1050" dirty="0"/>
              <a:t>… … </a:t>
            </a:r>
            <a:r>
              <a:rPr lang="ko-KR" altLang="en-US" sz="1050" dirty="0" err="1" smtClean="0"/>
              <a:t>셀프제작</a:t>
            </a:r>
            <a:r>
              <a:rPr lang="ko-KR" altLang="en-US" sz="1050" dirty="0" smtClean="0"/>
              <a:t> </a:t>
            </a:r>
            <a:r>
              <a:rPr lang="ko-KR" altLang="en-US" sz="1050" dirty="0"/>
              <a:t>상태</a:t>
            </a:r>
            <a:r>
              <a:rPr lang="en-US" altLang="ko-KR" sz="1050" dirty="0" smtClean="0"/>
              <a:t>(</a:t>
            </a:r>
            <a:r>
              <a:rPr lang="ko-KR" altLang="en-US" sz="1050" dirty="0" smtClean="0"/>
              <a:t>제작</a:t>
            </a:r>
            <a:r>
              <a:rPr lang="en-US" altLang="ko-KR" sz="1050" dirty="0" smtClean="0"/>
              <a:t>)</a:t>
            </a:r>
            <a:endParaRPr lang="en-US" altLang="ko-KR" sz="1050" dirty="0"/>
          </a:p>
          <a:p>
            <a:endParaRPr lang="en-US" altLang="ko-KR" sz="1050" dirty="0" smtClean="0"/>
          </a:p>
          <a:p>
            <a:endParaRPr lang="ko-KR" altLang="en-US" sz="1200" dirty="0"/>
          </a:p>
        </p:txBody>
      </p:sp>
      <p:sp>
        <p:nvSpPr>
          <p:cNvPr id="31" name="직사각형 30"/>
          <p:cNvSpPr/>
          <p:nvPr/>
        </p:nvSpPr>
        <p:spPr>
          <a:xfrm>
            <a:off x="8244408" y="2415382"/>
            <a:ext cx="853480" cy="9155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부분공개</a:t>
            </a:r>
            <a:endParaRPr lang="ko-KR" altLang="en-US" sz="1000" dirty="0"/>
          </a:p>
        </p:txBody>
      </p:sp>
      <p:sp>
        <p:nvSpPr>
          <p:cNvPr id="32" name="직사각형 31"/>
          <p:cNvSpPr/>
          <p:nvPr/>
        </p:nvSpPr>
        <p:spPr>
          <a:xfrm>
            <a:off x="8244408" y="3505279"/>
            <a:ext cx="853480" cy="10150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공개</a:t>
            </a:r>
            <a:endParaRPr lang="ko-KR" altLang="en-US" sz="1000" dirty="0"/>
          </a:p>
        </p:txBody>
      </p:sp>
      <p:sp>
        <p:nvSpPr>
          <p:cNvPr id="33" name="직사각형 32"/>
          <p:cNvSpPr/>
          <p:nvPr/>
        </p:nvSpPr>
        <p:spPr>
          <a:xfrm>
            <a:off x="8244408" y="4737155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미공개</a:t>
            </a:r>
            <a:endParaRPr lang="ko-KR" altLang="en-US" sz="1000" dirty="0"/>
          </a:p>
        </p:txBody>
      </p:sp>
      <p:sp>
        <p:nvSpPr>
          <p:cNvPr id="34" name="직사각형 33"/>
          <p:cNvSpPr/>
          <p:nvPr/>
        </p:nvSpPr>
        <p:spPr>
          <a:xfrm>
            <a:off x="8244408" y="1996875"/>
            <a:ext cx="828660" cy="2546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/>
              <a:t>제작하는 사람만 공개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25548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134568" y="918007"/>
            <a:ext cx="853480" cy="22183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/>
              <a:t>대리제작접수</a:t>
            </a:r>
            <a:endParaRPr lang="ko-KR" altLang="en-US" sz="800" dirty="0"/>
          </a:p>
        </p:txBody>
      </p:sp>
      <p:sp>
        <p:nvSpPr>
          <p:cNvPr id="4" name="직사각형 3"/>
          <p:cNvSpPr/>
          <p:nvPr/>
        </p:nvSpPr>
        <p:spPr>
          <a:xfrm>
            <a:off x="7134568" y="1287478"/>
            <a:ext cx="853480" cy="22183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선금</a:t>
            </a:r>
            <a:endParaRPr lang="ko-KR" altLang="en-US" sz="1000" dirty="0"/>
          </a:p>
        </p:txBody>
      </p:sp>
      <p:sp>
        <p:nvSpPr>
          <p:cNvPr id="5" name="직사각형 4"/>
          <p:cNvSpPr/>
          <p:nvPr/>
        </p:nvSpPr>
        <p:spPr>
          <a:xfrm>
            <a:off x="7145576" y="1678238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제작</a:t>
            </a:r>
            <a:endParaRPr lang="ko-KR" altLang="en-US" sz="1000" dirty="0"/>
          </a:p>
        </p:txBody>
      </p:sp>
      <p:sp>
        <p:nvSpPr>
          <p:cNvPr id="6" name="직사각형 5"/>
          <p:cNvSpPr/>
          <p:nvPr/>
        </p:nvSpPr>
        <p:spPr>
          <a:xfrm>
            <a:off x="7160816" y="2757727"/>
            <a:ext cx="853480" cy="22183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잔금</a:t>
            </a:r>
            <a:endParaRPr lang="ko-KR" altLang="en-US" sz="1000" dirty="0"/>
          </a:p>
        </p:txBody>
      </p:sp>
      <p:sp>
        <p:nvSpPr>
          <p:cNvPr id="7" name="직사각형 6"/>
          <p:cNvSpPr/>
          <p:nvPr/>
        </p:nvSpPr>
        <p:spPr>
          <a:xfrm>
            <a:off x="7134568" y="2063968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/>
              <a:t>완료</a:t>
            </a:r>
            <a:endParaRPr lang="ko-KR" altLang="en-US" sz="1000"/>
          </a:p>
        </p:txBody>
      </p:sp>
      <p:sp>
        <p:nvSpPr>
          <p:cNvPr id="8" name="직사각형 7"/>
          <p:cNvSpPr/>
          <p:nvPr/>
        </p:nvSpPr>
        <p:spPr>
          <a:xfrm>
            <a:off x="7160816" y="2381869"/>
            <a:ext cx="853480" cy="22183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검토</a:t>
            </a:r>
            <a:endParaRPr lang="ko-KR" altLang="en-US" sz="1000" dirty="0"/>
          </a:p>
        </p:txBody>
      </p:sp>
      <p:sp>
        <p:nvSpPr>
          <p:cNvPr id="9" name="직사각형 8"/>
          <p:cNvSpPr/>
          <p:nvPr/>
        </p:nvSpPr>
        <p:spPr>
          <a:xfrm>
            <a:off x="7159596" y="3947040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/>
              <a:t>구독</a:t>
            </a:r>
            <a:endParaRPr lang="ko-KR" altLang="en-US" sz="1000" dirty="0"/>
          </a:p>
        </p:txBody>
      </p:sp>
      <p:sp>
        <p:nvSpPr>
          <p:cNvPr id="10" name="직사각형 9"/>
          <p:cNvSpPr/>
          <p:nvPr/>
        </p:nvSpPr>
        <p:spPr>
          <a:xfrm>
            <a:off x="7163500" y="3174697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 smtClean="0"/>
              <a:t>카드</a:t>
            </a:r>
            <a:r>
              <a:rPr lang="en-US" altLang="ko-KR" sz="700" dirty="0" smtClean="0"/>
              <a:t>/</a:t>
            </a:r>
            <a:r>
              <a:rPr lang="ko-KR" altLang="en-US" sz="700" dirty="0" smtClean="0"/>
              <a:t>계좌 등록</a:t>
            </a:r>
            <a:endParaRPr lang="ko-KR" altLang="en-US" sz="700" dirty="0"/>
          </a:p>
        </p:txBody>
      </p:sp>
      <p:sp>
        <p:nvSpPr>
          <p:cNvPr id="11" name="직사각형 10"/>
          <p:cNvSpPr/>
          <p:nvPr/>
        </p:nvSpPr>
        <p:spPr>
          <a:xfrm>
            <a:off x="7159596" y="3533437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체험</a:t>
            </a:r>
            <a:endParaRPr lang="ko-KR" altLang="en-US" sz="1000" dirty="0"/>
          </a:p>
        </p:txBody>
      </p:sp>
      <p:sp>
        <p:nvSpPr>
          <p:cNvPr id="12" name="직사각형 11"/>
          <p:cNvSpPr/>
          <p:nvPr/>
        </p:nvSpPr>
        <p:spPr>
          <a:xfrm>
            <a:off x="7145576" y="4385742"/>
            <a:ext cx="853480" cy="221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정지</a:t>
            </a:r>
            <a:endParaRPr lang="ko-KR" altLang="en-US" sz="1000" dirty="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620688"/>
            <a:ext cx="6585610" cy="3894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953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0314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16065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18238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59345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1686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1520" y="260648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20260907 </a:t>
            </a:r>
            <a:r>
              <a:rPr lang="ko-KR" altLang="en-US" dirty="0" smtClean="0"/>
              <a:t>점검</a:t>
            </a:r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854942"/>
              </p:ext>
            </p:extLst>
          </p:nvPr>
        </p:nvGraphicFramePr>
        <p:xfrm>
          <a:off x="827584" y="980728"/>
          <a:ext cx="6264696" cy="439420"/>
        </p:xfrm>
        <a:graphic>
          <a:graphicData uri="http://schemas.openxmlformats.org/drawingml/2006/table">
            <a:tbl>
              <a:tblPr/>
              <a:tblGrid>
                <a:gridCol w="3132348">
                  <a:extLst>
                    <a:ext uri="{9D8B030D-6E8A-4147-A177-3AD203B41FA5}">
                      <a16:colId xmlns:a16="http://schemas.microsoft.com/office/drawing/2014/main" val="4006302840"/>
                    </a:ext>
                  </a:extLst>
                </a:gridCol>
                <a:gridCol w="3132348">
                  <a:extLst>
                    <a:ext uri="{9D8B030D-6E8A-4147-A177-3AD203B41FA5}">
                      <a16:colId xmlns:a16="http://schemas.microsoft.com/office/drawing/2014/main" val="9329306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ko-KR" altLang="en-US" dirty="0" smtClean="0">
                          <a:solidFill>
                            <a:schemeClr val="bg1"/>
                          </a:solidFill>
                          <a:effectLst/>
                        </a:rPr>
                        <a:t>테스트</a:t>
                      </a:r>
                      <a:r>
                        <a:rPr lang="en-US" altLang="ko-KR" dirty="0" smtClean="0">
                          <a:solidFill>
                            <a:schemeClr val="bg1"/>
                          </a:solidFill>
                          <a:effectLst/>
                        </a:rPr>
                        <a:t>2 : </a:t>
                      </a:r>
                      <a:r>
                        <a:rPr lang="ko-KR" altLang="en-US" dirty="0" err="1" smtClean="0">
                          <a:solidFill>
                            <a:schemeClr val="bg1"/>
                          </a:solidFill>
                          <a:effectLst/>
                        </a:rPr>
                        <a:t>마곡병원</a:t>
                      </a:r>
                      <a:endParaRPr lang="ko-KR" altLang="en-US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8900" marR="88900" marT="82550" marB="82550" anchor="ctr">
                    <a:lnL w="12700" cap="flat" cmpd="sng" algn="ctr">
                      <a:solidFill>
                        <a:srgbClr val="C028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30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28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28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dirty="0" smtClean="0">
                          <a:solidFill>
                            <a:srgbClr val="94A3B8"/>
                          </a:solidFill>
                          <a:effectLst/>
                          <a:hlinkClick r:id="rId2"/>
                        </a:rPr>
                        <a:t>test2@test.com</a:t>
                      </a:r>
                      <a:r>
                        <a:rPr lang="en-US" dirty="0" smtClean="0">
                          <a:solidFill>
                            <a:srgbClr val="94A3B8"/>
                          </a:solidFill>
                          <a:effectLst/>
                        </a:rPr>
                        <a:t> / test123</a:t>
                      </a:r>
                      <a:endParaRPr lang="en-US" dirty="0">
                        <a:effectLst/>
                      </a:endParaRPr>
                    </a:p>
                  </a:txBody>
                  <a:tcPr marL="88900" marR="88900" marT="82550" marB="82550" anchor="ctr">
                    <a:lnL w="12700" cap="flat" cmpd="sng" algn="ctr">
                      <a:solidFill>
                        <a:srgbClr val="4030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30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30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300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473338"/>
                  </a:ext>
                </a:extLst>
              </a:tr>
            </a:tbl>
          </a:graphicData>
        </a:graphic>
      </p:graphicFrame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484784"/>
            <a:ext cx="3587934" cy="1149409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4499992" y="1916832"/>
            <a:ext cx="3600400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고객이 구독등록하고 서비스 시작한다</a:t>
            </a:r>
            <a:r>
              <a:rPr lang="en-US" altLang="ko-KR" sz="1400" dirty="0" smtClean="0"/>
              <a:t>. </a:t>
            </a:r>
          </a:p>
          <a:p>
            <a:pPr algn="ctr"/>
            <a:r>
              <a:rPr lang="ko-KR" altLang="en-US" sz="1400" dirty="0" err="1" smtClean="0"/>
              <a:t>결재수단등록하고</a:t>
            </a:r>
            <a:r>
              <a:rPr lang="ko-KR" altLang="en-US" sz="1400" dirty="0" smtClean="0"/>
              <a:t> 서비스 시작해도 </a:t>
            </a:r>
            <a:r>
              <a:rPr lang="en-US" altLang="ko-KR" sz="1400" dirty="0" smtClean="0"/>
              <a:t>14</a:t>
            </a:r>
            <a:r>
              <a:rPr lang="ko-KR" altLang="en-US" sz="1400" dirty="0" smtClean="0"/>
              <a:t>일이후에 실제 결제된다</a:t>
            </a:r>
            <a:r>
              <a:rPr lang="en-US" altLang="ko-KR" sz="1400" dirty="0" smtClean="0"/>
              <a:t>. </a:t>
            </a:r>
            <a:endParaRPr lang="ko-KR" altLang="en-US" sz="140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977" y="3421628"/>
            <a:ext cx="3971118" cy="2740675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5508104" y="4509120"/>
            <a:ext cx="1872208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서비스시작전에는 </a:t>
            </a:r>
            <a:r>
              <a:rPr lang="ko-KR" altLang="en-US" sz="1200" dirty="0" err="1" smtClean="0"/>
              <a:t>본사직원과</a:t>
            </a:r>
            <a:r>
              <a:rPr lang="ko-KR" altLang="en-US" sz="1200" dirty="0" smtClean="0"/>
              <a:t> 회원만 </a:t>
            </a:r>
            <a:r>
              <a:rPr lang="ko-KR" altLang="en-US" sz="1200" dirty="0" err="1" smtClean="0"/>
              <a:t>열려있음</a:t>
            </a:r>
            <a:r>
              <a:rPr lang="en-US" altLang="ko-KR" sz="1200" dirty="0" smtClean="0"/>
              <a:t>. </a:t>
            </a:r>
          </a:p>
          <a:p>
            <a:pPr algn="ctr"/>
            <a:r>
              <a:rPr lang="ko-KR" altLang="en-US" sz="1200" dirty="0" smtClean="0"/>
              <a:t>공개되지 않음</a:t>
            </a:r>
            <a:r>
              <a:rPr lang="en-US" altLang="ko-KR" sz="1200" dirty="0" smtClean="0"/>
              <a:t>. </a:t>
            </a:r>
            <a:endParaRPr lang="ko-KR" altLang="en-US" sz="1200" dirty="0"/>
          </a:p>
        </p:txBody>
      </p:sp>
      <p:sp>
        <p:nvSpPr>
          <p:cNvPr id="9" name="직사각형 8"/>
          <p:cNvSpPr/>
          <p:nvPr/>
        </p:nvSpPr>
        <p:spPr>
          <a:xfrm>
            <a:off x="6084168" y="5589240"/>
            <a:ext cx="2160240" cy="86409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여기에 표시가 없다</a:t>
            </a:r>
            <a:r>
              <a:rPr lang="en-US" altLang="ko-KR" sz="1200" dirty="0" smtClean="0"/>
              <a:t>. </a:t>
            </a:r>
            <a:r>
              <a:rPr lang="ko-KR" altLang="en-US" sz="1200" dirty="0" smtClean="0"/>
              <a:t>본인만 나오고 잇는건지 어쩐지</a:t>
            </a:r>
            <a:r>
              <a:rPr lang="en-US" altLang="ko-KR" sz="1200" dirty="0" smtClean="0"/>
              <a:t>…</a:t>
            </a:r>
            <a:r>
              <a:rPr lang="ko-KR" altLang="en-US" sz="1200" dirty="0" smtClean="0"/>
              <a:t>도장모양으로 사이트에 </a:t>
            </a:r>
            <a:r>
              <a:rPr lang="en-US" altLang="ko-KR" sz="1200" dirty="0" smtClean="0"/>
              <a:t>“</a:t>
            </a:r>
            <a:r>
              <a:rPr lang="ko-KR" altLang="en-US" sz="1200" dirty="0" smtClean="0"/>
              <a:t>미공개</a:t>
            </a:r>
            <a:r>
              <a:rPr lang="en-US" altLang="ko-KR" sz="1200" dirty="0" smtClean="0"/>
              <a:t>” </a:t>
            </a:r>
            <a:r>
              <a:rPr lang="ko-KR" altLang="en-US" sz="1200" dirty="0" smtClean="0"/>
              <a:t>표시가 </a:t>
            </a:r>
            <a:r>
              <a:rPr lang="ko-KR" altLang="en-US" sz="1200" dirty="0" err="1" smtClean="0"/>
              <a:t>됬으면좋겠음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8190227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67544" y="404664"/>
            <a:ext cx="2160240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리뷰단계에서 미공개 </a:t>
            </a:r>
            <a:r>
              <a:rPr lang="ko-KR" altLang="en-US" sz="1200" dirty="0" err="1" smtClean="0"/>
              <a:t>리본표시</a:t>
            </a:r>
            <a:r>
              <a:rPr lang="ko-KR" altLang="en-US" sz="1200" dirty="0" smtClean="0"/>
              <a:t> 로 수정</a:t>
            </a:r>
            <a:endParaRPr lang="ko-KR" altLang="en-US" sz="1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628800"/>
            <a:ext cx="7671542" cy="498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094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412776"/>
            <a:ext cx="4935238" cy="320889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7544" y="188640"/>
            <a:ext cx="37444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사이트 구조 점검</a:t>
            </a:r>
            <a:endParaRPr lang="en-US" altLang="ko-KR" sz="1200" dirty="0" smtClean="0"/>
          </a:p>
          <a:p>
            <a:r>
              <a:rPr lang="ko-KR" altLang="en-US" sz="1200" dirty="0" smtClean="0"/>
              <a:t>홈과 게시판 </a:t>
            </a:r>
            <a:r>
              <a:rPr lang="ko-KR" altLang="en-US" sz="1200" dirty="0" err="1" smtClean="0"/>
              <a:t>버늩의</a:t>
            </a:r>
            <a:r>
              <a:rPr lang="ko-KR" altLang="en-US" sz="1200" dirty="0" smtClean="0"/>
              <a:t> 경우 사이트의 기능</a:t>
            </a:r>
            <a:endParaRPr lang="en-US" altLang="ko-KR" sz="1200" dirty="0" smtClean="0"/>
          </a:p>
          <a:p>
            <a:r>
              <a:rPr lang="ko-KR" altLang="en-US" sz="1200" dirty="0" err="1" smtClean="0"/>
              <a:t>문의버튼은</a:t>
            </a:r>
            <a:r>
              <a:rPr lang="ko-KR" altLang="en-US" sz="1200" dirty="0" smtClean="0"/>
              <a:t> 사이트관리자의 기능 </a:t>
            </a:r>
            <a:r>
              <a:rPr lang="en-US" altLang="ko-KR" sz="1200" dirty="0" smtClean="0"/>
              <a:t>&gt;&gt; </a:t>
            </a:r>
            <a:r>
              <a:rPr lang="ko-KR" altLang="en-US" sz="1200" dirty="0" smtClean="0"/>
              <a:t>이상하다</a:t>
            </a:r>
            <a:r>
              <a:rPr lang="en-US" altLang="ko-KR" sz="1200" dirty="0" smtClean="0"/>
              <a:t>. </a:t>
            </a:r>
            <a:r>
              <a:rPr lang="ko-KR" altLang="en-US" sz="1200" dirty="0" smtClean="0"/>
              <a:t>사이트의 </a:t>
            </a:r>
            <a:r>
              <a:rPr lang="ko-KR" altLang="en-US" sz="1200" dirty="0" err="1" smtClean="0"/>
              <a:t>기능이여야한다</a:t>
            </a:r>
            <a:r>
              <a:rPr lang="en-US" altLang="ko-KR" sz="1200" dirty="0" smtClean="0"/>
              <a:t>. </a:t>
            </a:r>
            <a:endParaRPr lang="ko-KR" altLang="en-US" sz="1200" dirty="0"/>
          </a:p>
        </p:txBody>
      </p:sp>
      <p:sp>
        <p:nvSpPr>
          <p:cNvPr id="4" name="직사각형 3"/>
          <p:cNvSpPr/>
          <p:nvPr/>
        </p:nvSpPr>
        <p:spPr>
          <a:xfrm>
            <a:off x="7524328" y="1124744"/>
            <a:ext cx="1512168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방문자</a:t>
            </a:r>
            <a:endParaRPr lang="ko-KR" altLang="en-US" sz="1400" dirty="0"/>
          </a:p>
        </p:txBody>
      </p:sp>
      <p:sp>
        <p:nvSpPr>
          <p:cNvPr id="5" name="직사각형 4"/>
          <p:cNvSpPr/>
          <p:nvPr/>
        </p:nvSpPr>
        <p:spPr>
          <a:xfrm>
            <a:off x="7524328" y="2708920"/>
            <a:ext cx="1512168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/>
              <a:t>사이트주인</a:t>
            </a:r>
            <a:endParaRPr lang="en-US" altLang="ko-KR" sz="1400" dirty="0" smtClean="0"/>
          </a:p>
          <a:p>
            <a:pPr algn="ctr"/>
            <a:r>
              <a:rPr lang="en-US" altLang="ko-KR" sz="1400" dirty="0" smtClean="0"/>
              <a:t>(</a:t>
            </a:r>
            <a:r>
              <a:rPr lang="ko-KR" altLang="en-US" sz="1400" dirty="0" smtClean="0"/>
              <a:t>관리자</a:t>
            </a:r>
            <a:r>
              <a:rPr lang="en-US" altLang="ko-KR" sz="1400" dirty="0" smtClean="0"/>
              <a:t>)</a:t>
            </a:r>
            <a:endParaRPr lang="ko-KR" altLang="en-US" sz="1400" dirty="0"/>
          </a:p>
        </p:txBody>
      </p:sp>
      <p:sp>
        <p:nvSpPr>
          <p:cNvPr id="6" name="직사각형 5"/>
          <p:cNvSpPr/>
          <p:nvPr/>
        </p:nvSpPr>
        <p:spPr>
          <a:xfrm>
            <a:off x="7524328" y="4221088"/>
            <a:ext cx="1512168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본사 직원</a:t>
            </a:r>
            <a:endParaRPr lang="ko-KR" altLang="en-US" sz="1400" dirty="0"/>
          </a:p>
        </p:txBody>
      </p:sp>
      <p:sp>
        <p:nvSpPr>
          <p:cNvPr id="7" name="직사각형 6"/>
          <p:cNvSpPr/>
          <p:nvPr/>
        </p:nvSpPr>
        <p:spPr>
          <a:xfrm>
            <a:off x="6134373" y="767609"/>
            <a:ext cx="648072" cy="50405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mtClean="0"/>
              <a:t>홈</a:t>
            </a:r>
            <a:endParaRPr lang="ko-KR" altLang="en-US" sz="1200"/>
          </a:p>
        </p:txBody>
      </p:sp>
      <p:sp>
        <p:nvSpPr>
          <p:cNvPr id="8" name="직사각형 7"/>
          <p:cNvSpPr/>
          <p:nvPr/>
        </p:nvSpPr>
        <p:spPr>
          <a:xfrm>
            <a:off x="6134373" y="1523693"/>
            <a:ext cx="648072" cy="50405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게시판</a:t>
            </a:r>
            <a:endParaRPr lang="ko-KR" altLang="en-US" sz="1200" dirty="0"/>
          </a:p>
        </p:txBody>
      </p:sp>
      <p:sp>
        <p:nvSpPr>
          <p:cNvPr id="9" name="직사각형 8"/>
          <p:cNvSpPr/>
          <p:nvPr/>
        </p:nvSpPr>
        <p:spPr>
          <a:xfrm>
            <a:off x="6134373" y="3284984"/>
            <a:ext cx="648072" cy="50405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문의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1809302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404664"/>
            <a:ext cx="48245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 smtClean="0"/>
              <a:t>테이블명</a:t>
            </a:r>
            <a:r>
              <a:rPr lang="ko-KR" altLang="en-US" sz="1400" dirty="0" smtClean="0"/>
              <a:t> 사상 점검</a:t>
            </a:r>
            <a:endParaRPr lang="en-US" altLang="ko-KR" sz="1400" dirty="0" smtClean="0"/>
          </a:p>
          <a:p>
            <a:r>
              <a:rPr lang="ko-KR" altLang="en-US" sz="1400" dirty="0" smtClean="0"/>
              <a:t>사용주최기준으로 명칭 변경필요검토</a:t>
            </a:r>
            <a:endParaRPr lang="ko-KR" altLang="en-US" sz="14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196752"/>
            <a:ext cx="4159113" cy="338437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8833" y="2564904"/>
            <a:ext cx="5598716" cy="3899352"/>
          </a:xfrm>
          <a:prstGeom prst="rect">
            <a:avLst/>
          </a:prstGeom>
        </p:spPr>
      </p:pic>
      <p:sp>
        <p:nvSpPr>
          <p:cNvPr id="5" name="사각형 설명선 4"/>
          <p:cNvSpPr/>
          <p:nvPr/>
        </p:nvSpPr>
        <p:spPr>
          <a:xfrm>
            <a:off x="6444208" y="1628800"/>
            <a:ext cx="1728192" cy="864096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플랫폼기준으로 선정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64527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404664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사이트 배포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7" y="692696"/>
            <a:ext cx="2720555" cy="1960225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3059832" y="980728"/>
            <a:ext cx="3816424" cy="16721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 smtClean="0"/>
              <a:t>카드등록해두면</a:t>
            </a:r>
            <a:r>
              <a:rPr lang="ko-KR" altLang="en-US" sz="1200" dirty="0" smtClean="0"/>
              <a:t> 배포되고 </a:t>
            </a:r>
            <a:r>
              <a:rPr lang="en-US" altLang="ko-KR" sz="1200" dirty="0" smtClean="0"/>
              <a:t>&gt; trial</a:t>
            </a:r>
            <a:r>
              <a:rPr lang="ko-KR" altLang="en-US" sz="1200" dirty="0" smtClean="0"/>
              <a:t>기간 들어가고 </a:t>
            </a:r>
            <a:r>
              <a:rPr lang="en-US" altLang="ko-KR" sz="1200" dirty="0" smtClean="0"/>
              <a:t>(14</a:t>
            </a:r>
            <a:r>
              <a:rPr lang="ko-KR" altLang="en-US" sz="1200" dirty="0" smtClean="0"/>
              <a:t>일</a:t>
            </a:r>
            <a:r>
              <a:rPr lang="en-US" altLang="ko-KR" sz="1200" dirty="0" smtClean="0"/>
              <a:t>) </a:t>
            </a:r>
            <a:r>
              <a:rPr lang="ko-KR" altLang="en-US" sz="1200" dirty="0" smtClean="0"/>
              <a:t>이후에는 </a:t>
            </a:r>
            <a:r>
              <a:rPr lang="ko-KR" altLang="en-US" sz="1200" dirty="0" err="1" smtClean="0"/>
              <a:t>자동결재되는건가</a:t>
            </a:r>
            <a:r>
              <a:rPr lang="en-US" altLang="ko-KR" sz="1200" dirty="0" smtClean="0"/>
              <a:t>?</a:t>
            </a:r>
            <a:endParaRPr lang="ko-KR" altLang="en-US" sz="12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3933056"/>
            <a:ext cx="5567107" cy="254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3127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9552" y="404664"/>
            <a:ext cx="24482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 smtClean="0"/>
              <a:t>공통코드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디비</a:t>
            </a:r>
            <a:r>
              <a:rPr lang="ko-KR" altLang="en-US" sz="1400" dirty="0" smtClean="0"/>
              <a:t> 구조 적용 완료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1406571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65791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332656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정지된 사이트 점검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39552" y="1196752"/>
            <a:ext cx="1944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사이트와 구독 테이블 확인해보자</a:t>
            </a:r>
            <a:endParaRPr lang="ko-KR" altLang="en-US" sz="12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904" y="538139"/>
            <a:ext cx="4425059" cy="309249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3831189"/>
            <a:ext cx="8063898" cy="58841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62" y="2791913"/>
            <a:ext cx="3076149" cy="71651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530" y="1839112"/>
            <a:ext cx="3261345" cy="628137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539551" y="5085184"/>
            <a:ext cx="3307323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본사의뢰</a:t>
            </a:r>
            <a:r>
              <a:rPr lang="ko-KR" altLang="en-US" dirty="0" smtClean="0"/>
              <a:t> 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제작중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잔금 미납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30708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340768"/>
            <a:ext cx="5692282" cy="4128081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395536" y="188640"/>
            <a:ext cx="3024336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근데 사이트운영중</a:t>
            </a:r>
            <a:r>
              <a:rPr lang="en-US" altLang="ko-KR" dirty="0" smtClean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419584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295277"/>
            <a:ext cx="4608512" cy="103614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386" y="1358229"/>
            <a:ext cx="3772094" cy="99065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0" y="2492896"/>
            <a:ext cx="7753748" cy="4210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9290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620688"/>
            <a:ext cx="7487035" cy="3200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2957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772816"/>
            <a:ext cx="3974401" cy="348280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9552" y="404664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검수중인데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사이트나오네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64" y="1772816"/>
            <a:ext cx="3778489" cy="303014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4925" y="5085184"/>
            <a:ext cx="5524784" cy="196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6969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476672"/>
            <a:ext cx="36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계좌이체고객</a:t>
            </a:r>
            <a:r>
              <a:rPr lang="en-US" altLang="ko-KR" sz="1400" dirty="0" smtClean="0"/>
              <a:t>case : </a:t>
            </a:r>
            <a:r>
              <a:rPr lang="ko-KR" altLang="en-US" sz="1400" dirty="0" smtClean="0"/>
              <a:t>고객이 잔금을 이체한다</a:t>
            </a:r>
            <a:r>
              <a:rPr lang="en-US" altLang="ko-KR" sz="1400" dirty="0" smtClean="0"/>
              <a:t>. &gt; </a:t>
            </a:r>
            <a:r>
              <a:rPr lang="ko-KR" altLang="en-US" sz="1400" dirty="0" smtClean="0"/>
              <a:t>어떻게</a:t>
            </a:r>
            <a:r>
              <a:rPr lang="en-US" altLang="ko-KR" sz="1400" dirty="0" smtClean="0"/>
              <a:t>?  &gt; 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9753101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27191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476672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20260901 flow</a:t>
            </a:r>
            <a:r>
              <a:rPr lang="ko-KR" altLang="en-US" dirty="0" smtClean="0"/>
              <a:t>점검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124744"/>
            <a:ext cx="8298973" cy="5728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46221" y="2195622"/>
            <a:ext cx="37444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배포되고있음</a:t>
            </a:r>
            <a:r>
              <a:rPr lang="en-US" altLang="ko-KR" dirty="0" smtClean="0"/>
              <a:t>. </a:t>
            </a:r>
            <a:r>
              <a:rPr lang="ko-KR" altLang="en-US" dirty="0" err="1" smtClean="0"/>
              <a:t>돈냈나</a:t>
            </a:r>
            <a:r>
              <a:rPr lang="en-US" altLang="ko-KR" dirty="0" smtClean="0"/>
              <a:t>? </a:t>
            </a:r>
          </a:p>
          <a:p>
            <a:r>
              <a:rPr lang="ko-KR" altLang="en-US" dirty="0" err="1" smtClean="0"/>
              <a:t>운영중</a:t>
            </a:r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3138807"/>
            <a:ext cx="4877511" cy="189787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3728" y="2636912"/>
            <a:ext cx="5544616" cy="3517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1096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-1548680" y="1196752"/>
            <a:ext cx="3672408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루트</a:t>
            </a:r>
            <a:r>
              <a:rPr lang="en-US" altLang="ko-KR" dirty="0" smtClean="0"/>
              <a:t>1: </a:t>
            </a:r>
            <a:r>
              <a:rPr lang="ko-KR" altLang="en-US" dirty="0" err="1" smtClean="0"/>
              <a:t>직접개발</a:t>
            </a:r>
            <a:r>
              <a:rPr lang="ko-KR" altLang="en-US" dirty="0" smtClean="0"/>
              <a:t> 배포</a:t>
            </a:r>
            <a:endParaRPr lang="en-US" altLang="ko-KR" dirty="0" smtClean="0"/>
          </a:p>
          <a:p>
            <a:pPr algn="ctr"/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2339752" y="620688"/>
            <a:ext cx="6192688" cy="15121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사이트 제작</a:t>
            </a:r>
            <a:r>
              <a:rPr lang="en-US" altLang="ko-KR" sz="1200" dirty="0" smtClean="0"/>
              <a:t>&gt; </a:t>
            </a:r>
            <a:r>
              <a:rPr lang="ko-KR" altLang="en-US" sz="1200" dirty="0" smtClean="0"/>
              <a:t>구독 결제수단 선택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카드</a:t>
            </a:r>
            <a:r>
              <a:rPr lang="en-US" altLang="ko-KR" sz="1200" dirty="0" smtClean="0"/>
              <a:t> or</a:t>
            </a:r>
            <a:r>
              <a:rPr lang="ko-KR" altLang="en-US" sz="1200" dirty="0" smtClean="0"/>
              <a:t> 이체 선택</a:t>
            </a:r>
            <a:r>
              <a:rPr lang="en-US" altLang="ko-KR" sz="1200" dirty="0" smtClean="0"/>
              <a:t>) &gt; </a:t>
            </a:r>
            <a:r>
              <a:rPr lang="ko-KR" altLang="en-US" sz="1200" dirty="0" smtClean="0"/>
              <a:t>배포</a:t>
            </a:r>
            <a:r>
              <a:rPr lang="en-US" altLang="ko-KR" sz="1200" dirty="0" smtClean="0"/>
              <a:t>(14</a:t>
            </a:r>
            <a:r>
              <a:rPr lang="ko-KR" altLang="en-US" sz="1200" dirty="0" smtClean="0"/>
              <a:t>일 </a:t>
            </a:r>
            <a:r>
              <a:rPr lang="en-US" altLang="ko-KR" sz="1200" dirty="0" smtClean="0"/>
              <a:t>trial) &gt; 14</a:t>
            </a:r>
            <a:r>
              <a:rPr lang="ko-KR" altLang="en-US" sz="1200" dirty="0" smtClean="0"/>
              <a:t>일이후 자동결제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계좌 </a:t>
            </a:r>
            <a:r>
              <a:rPr lang="ko-KR" altLang="en-US" sz="1200" dirty="0" err="1" smtClean="0"/>
              <a:t>입급</a:t>
            </a:r>
            <a:r>
              <a:rPr lang="ko-KR" altLang="en-US" sz="1200" dirty="0" smtClean="0"/>
              <a:t> 알림 </a:t>
            </a:r>
            <a:r>
              <a:rPr lang="en-US" altLang="ko-KR" sz="1200" dirty="0" smtClean="0"/>
              <a:t>&gt; </a:t>
            </a:r>
            <a:r>
              <a:rPr lang="ko-KR" altLang="en-US" sz="1200" dirty="0" smtClean="0"/>
              <a:t>입금확인 </a:t>
            </a:r>
            <a:r>
              <a:rPr lang="en-US" altLang="ko-KR" sz="1200" dirty="0" smtClean="0"/>
              <a:t>&gt; </a:t>
            </a:r>
            <a:r>
              <a:rPr lang="ko-KR" altLang="en-US" sz="1200" dirty="0" err="1" smtClean="0"/>
              <a:t>배포계속</a:t>
            </a:r>
            <a:r>
              <a:rPr lang="ko-KR" altLang="en-US" sz="1200" dirty="0" smtClean="0"/>
              <a:t> </a:t>
            </a:r>
            <a:endParaRPr lang="ko-KR" altLang="en-US" sz="1200" dirty="0"/>
          </a:p>
        </p:txBody>
      </p:sp>
      <p:sp>
        <p:nvSpPr>
          <p:cNvPr id="5" name="직사각형 4"/>
          <p:cNvSpPr/>
          <p:nvPr/>
        </p:nvSpPr>
        <p:spPr>
          <a:xfrm>
            <a:off x="-1548680" y="3573016"/>
            <a:ext cx="3672408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루트</a:t>
            </a:r>
            <a:r>
              <a:rPr lang="en-US" altLang="ko-KR" dirty="0" smtClean="0"/>
              <a:t>2: </a:t>
            </a:r>
            <a:r>
              <a:rPr lang="ko-KR" altLang="en-US" dirty="0" err="1" smtClean="0"/>
              <a:t>개발요청</a:t>
            </a:r>
            <a:endParaRPr lang="en-US" altLang="ko-KR" dirty="0" smtClean="0"/>
          </a:p>
          <a:p>
            <a:pPr algn="ctr"/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2339752" y="3284984"/>
            <a:ext cx="6192688" cy="15121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사이트 제작 요청 </a:t>
            </a:r>
            <a:r>
              <a:rPr lang="en-US" altLang="ko-KR" sz="1200" dirty="0" smtClean="0"/>
              <a:t>&gt; </a:t>
            </a:r>
            <a:r>
              <a:rPr lang="ko-KR" altLang="en-US" sz="1200" dirty="0" err="1" smtClean="0"/>
              <a:t>선금지불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&gt; </a:t>
            </a:r>
            <a:r>
              <a:rPr lang="ko-KR" altLang="en-US" sz="1200" dirty="0" smtClean="0"/>
              <a:t>본사 검토 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개발 </a:t>
            </a:r>
            <a:r>
              <a:rPr lang="en-US" altLang="ko-KR" sz="1200" dirty="0" smtClean="0"/>
              <a:t>&gt; </a:t>
            </a:r>
            <a:r>
              <a:rPr lang="ko-KR" altLang="en-US" sz="1200" dirty="0" err="1" smtClean="0"/>
              <a:t>잔금요청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&gt; </a:t>
            </a:r>
            <a:r>
              <a:rPr lang="ko-KR" altLang="en-US" sz="1200" dirty="0" smtClean="0"/>
              <a:t>구독 </a:t>
            </a:r>
            <a:r>
              <a:rPr lang="ko-KR" altLang="en-US" sz="1200" dirty="0"/>
              <a:t>결제수단 선택</a:t>
            </a:r>
            <a:r>
              <a:rPr lang="en-US" altLang="ko-KR" sz="1200" dirty="0"/>
              <a:t>(</a:t>
            </a:r>
            <a:r>
              <a:rPr lang="ko-KR" altLang="en-US" sz="1200" dirty="0"/>
              <a:t>카드</a:t>
            </a:r>
            <a:r>
              <a:rPr lang="en-US" altLang="ko-KR" sz="1200" dirty="0"/>
              <a:t> or</a:t>
            </a:r>
            <a:r>
              <a:rPr lang="ko-KR" altLang="en-US" sz="1200" dirty="0"/>
              <a:t> 이체 선택</a:t>
            </a:r>
            <a:r>
              <a:rPr lang="en-US" altLang="ko-KR" sz="1200" dirty="0"/>
              <a:t>) &gt; </a:t>
            </a:r>
            <a:r>
              <a:rPr lang="ko-KR" altLang="en-US" sz="1200" dirty="0"/>
              <a:t>배포</a:t>
            </a:r>
            <a:r>
              <a:rPr lang="en-US" altLang="ko-KR" sz="1200" dirty="0"/>
              <a:t>(14</a:t>
            </a:r>
            <a:r>
              <a:rPr lang="ko-KR" altLang="en-US" sz="1200" dirty="0"/>
              <a:t>일 </a:t>
            </a:r>
            <a:r>
              <a:rPr lang="en-US" altLang="ko-KR" sz="1200" dirty="0"/>
              <a:t>trial) &gt; 14</a:t>
            </a:r>
            <a:r>
              <a:rPr lang="ko-KR" altLang="en-US" sz="1200" dirty="0"/>
              <a:t>일이후 자동결제</a:t>
            </a:r>
            <a:r>
              <a:rPr lang="en-US" altLang="ko-KR" sz="1200" dirty="0"/>
              <a:t>, </a:t>
            </a:r>
            <a:r>
              <a:rPr lang="ko-KR" altLang="en-US" sz="1200" dirty="0"/>
              <a:t>계좌 </a:t>
            </a:r>
            <a:r>
              <a:rPr lang="ko-KR" altLang="en-US" sz="1200" dirty="0" err="1"/>
              <a:t>입급</a:t>
            </a:r>
            <a:r>
              <a:rPr lang="ko-KR" altLang="en-US" sz="1200" dirty="0"/>
              <a:t> 알림 </a:t>
            </a:r>
            <a:r>
              <a:rPr lang="en-US" altLang="ko-KR" sz="1200" dirty="0"/>
              <a:t>&gt; </a:t>
            </a:r>
            <a:r>
              <a:rPr lang="ko-KR" altLang="en-US" sz="1200" dirty="0"/>
              <a:t>입금확인 </a:t>
            </a:r>
            <a:r>
              <a:rPr lang="en-US" altLang="ko-KR" sz="1200" dirty="0"/>
              <a:t>&gt; </a:t>
            </a:r>
            <a:r>
              <a:rPr lang="ko-KR" altLang="en-US" sz="1200" dirty="0" err="1"/>
              <a:t>배포계속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04743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1560" y="548680"/>
            <a:ext cx="345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플랫폼 좌측 </a:t>
            </a:r>
            <a:r>
              <a:rPr lang="ko-KR" altLang="en-US" dirty="0" err="1" smtClean="0"/>
              <a:t>메뉴바로</a:t>
            </a:r>
            <a:r>
              <a:rPr lang="ko-KR" altLang="en-US" dirty="0" smtClean="0"/>
              <a:t> 변경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052736"/>
            <a:ext cx="8120600" cy="514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3870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683568" y="620688"/>
            <a:ext cx="2160240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고객포털</a:t>
            </a:r>
            <a:endParaRPr lang="en-US" altLang="ko-KR" dirty="0" smtClean="0"/>
          </a:p>
        </p:txBody>
      </p:sp>
      <p:sp>
        <p:nvSpPr>
          <p:cNvPr id="3" name="직사각형 2"/>
          <p:cNvSpPr/>
          <p:nvPr/>
        </p:nvSpPr>
        <p:spPr>
          <a:xfrm>
            <a:off x="899592" y="2348880"/>
            <a:ext cx="2304256" cy="20162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내사이트</a:t>
            </a:r>
            <a:endParaRPr lang="en-US" altLang="ko-KR" dirty="0" smtClean="0"/>
          </a:p>
          <a:p>
            <a:pPr marL="285750" indent="-285750" algn="ctr">
              <a:buFontTx/>
              <a:buChar char="-"/>
            </a:pPr>
            <a:r>
              <a:rPr lang="ko-KR" altLang="en-US" dirty="0" smtClean="0"/>
              <a:t>관리자</a:t>
            </a:r>
            <a:endParaRPr lang="en-US" altLang="ko-KR" dirty="0" smtClean="0"/>
          </a:p>
          <a:p>
            <a:pPr marL="285750" indent="-285750" algn="ctr">
              <a:buFontTx/>
              <a:buChar char="-"/>
            </a:pPr>
            <a:r>
              <a:rPr lang="ko-KR" altLang="en-US" dirty="0" smtClean="0"/>
              <a:t>디자인</a:t>
            </a:r>
            <a:endParaRPr lang="en-US" altLang="ko-KR" dirty="0" smtClean="0"/>
          </a:p>
          <a:p>
            <a:pPr marL="285750" indent="-285750" algn="ctr">
              <a:buFontTx/>
              <a:buChar char="-"/>
            </a:pPr>
            <a:r>
              <a:rPr lang="ko-KR" altLang="en-US" dirty="0" smtClean="0"/>
              <a:t>운영</a:t>
            </a:r>
            <a:endParaRPr lang="en-US" altLang="ko-KR" dirty="0" smtClean="0"/>
          </a:p>
          <a:p>
            <a:pPr marL="285750" indent="-285750" algn="ctr">
              <a:buFontTx/>
              <a:buChar char="-"/>
            </a:pPr>
            <a:endParaRPr lang="en-US" altLang="ko-KR" dirty="0" smtClean="0"/>
          </a:p>
          <a:p>
            <a:pPr marL="285750" indent="-285750" algn="ctr">
              <a:buFontTx/>
              <a:buChar char="-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09484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35101"/>
            <a:ext cx="5415742" cy="409281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866" y="3861048"/>
            <a:ext cx="6409408" cy="2849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5800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07584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22163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188640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Supabase</a:t>
            </a:r>
            <a:r>
              <a:rPr lang="en-US" altLang="ko-KR" dirty="0" smtClean="0"/>
              <a:t> </a:t>
            </a:r>
            <a:r>
              <a:rPr lang="ko-KR" altLang="en-US" dirty="0" smtClean="0"/>
              <a:t>사용자 관리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980728"/>
            <a:ext cx="7815558" cy="218620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4509120"/>
            <a:ext cx="2213319" cy="20245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75856" y="5085184"/>
            <a:ext cx="2880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관리자 </a:t>
            </a:r>
            <a:r>
              <a:rPr lang="en-US" altLang="ko-KR" dirty="0" smtClean="0"/>
              <a:t>: </a:t>
            </a:r>
            <a:r>
              <a:rPr lang="en-US" altLang="ko-KR" dirty="0" smtClean="0">
                <a:hlinkClick r:id="rId4"/>
              </a:rPr>
              <a:t>admin@myplatform.com</a:t>
            </a:r>
            <a:r>
              <a:rPr lang="en-US" altLang="ko-KR" dirty="0" smtClean="0"/>
              <a:t> / admin1234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88512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548680"/>
            <a:ext cx="7632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TO – DO</a:t>
            </a:r>
          </a:p>
          <a:p>
            <a:r>
              <a:rPr lang="en-US" altLang="ko-KR" sz="1200" dirty="0" smtClean="0"/>
              <a:t>// 20260826 </a:t>
            </a:r>
            <a:r>
              <a:rPr lang="ko-KR" altLang="en-US" sz="1200" dirty="0" smtClean="0"/>
              <a:t>중간점검</a:t>
            </a:r>
            <a:endParaRPr lang="en-US" altLang="ko-KR" sz="1200" dirty="0" smtClean="0"/>
          </a:p>
          <a:p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7658451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971600" y="1844824"/>
            <a:ext cx="2592288" cy="15841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chat GPT</a:t>
            </a:r>
          </a:p>
          <a:p>
            <a:pPr algn="ctr"/>
            <a:r>
              <a:rPr lang="ko-KR" altLang="en-US" dirty="0" smtClean="0"/>
              <a:t>기획</a:t>
            </a:r>
            <a:r>
              <a:rPr lang="en-US" altLang="ko-KR" dirty="0" smtClean="0"/>
              <a:t>/</a:t>
            </a:r>
            <a:r>
              <a:rPr lang="ko-KR" altLang="en-US" dirty="0" smtClean="0"/>
              <a:t>분석</a:t>
            </a:r>
            <a:r>
              <a:rPr lang="en-US" altLang="ko-KR" dirty="0" smtClean="0"/>
              <a:t>/</a:t>
            </a:r>
            <a:r>
              <a:rPr lang="ko-KR" altLang="en-US" dirty="0" smtClean="0"/>
              <a:t>개발</a:t>
            </a:r>
            <a:r>
              <a:rPr lang="en-US" altLang="ko-KR" dirty="0" smtClean="0"/>
              <a:t>prompt 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971600" y="4941168"/>
            <a:ext cx="2592288" cy="15841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Cursor</a:t>
            </a:r>
          </a:p>
          <a:p>
            <a:pPr algn="ctr"/>
            <a:r>
              <a:rPr lang="ko-KR" altLang="en-US" dirty="0" smtClean="0"/>
              <a:t>개발</a:t>
            </a:r>
            <a:endParaRPr lang="en-US" altLang="ko-KR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179512" y="332656"/>
            <a:ext cx="288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개발방법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71600" y="4509120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aidesctop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971600" y="1475492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gram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515886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427984" y="476672"/>
            <a:ext cx="3096344" cy="48013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고객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539552" y="1421642"/>
            <a:ext cx="1800200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Aifront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플랫폼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4836062" y="1340768"/>
            <a:ext cx="1872208" cy="1080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K</a:t>
            </a:r>
            <a:r>
              <a:rPr lang="ko-KR" altLang="en-US" dirty="0" err="1" smtClean="0"/>
              <a:t>직구쇼핑몰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(</a:t>
            </a:r>
            <a:r>
              <a:rPr lang="ko-KR" altLang="en-US" dirty="0" smtClean="0"/>
              <a:t>말레이시아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4860032" y="3068960"/>
            <a:ext cx="1872208" cy="1080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자영업사이트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67544" y="332656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비즈니스 구성도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67926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23528" y="404664"/>
            <a:ext cx="60486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smtClean="0"/>
              <a:t>// </a:t>
            </a:r>
            <a:r>
              <a:rPr lang="en-US" altLang="ko-KR" dirty="0" err="1" smtClean="0"/>
              <a:t>aifront</a:t>
            </a:r>
            <a:endParaRPr lang="en-US" altLang="ko-KR" dirty="0" smtClean="0"/>
          </a:p>
          <a:p>
            <a:r>
              <a:rPr lang="ko-KR" altLang="en-US" dirty="0" smtClean="0"/>
              <a:t>https</a:t>
            </a:r>
            <a:r>
              <a:rPr lang="ko-KR" altLang="en-US" dirty="0"/>
              <a:t>://github.com/oksusoo1/homepageDev.git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950020" y="1988840"/>
            <a:ext cx="1656184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고객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6588224" y="2060848"/>
            <a:ext cx="1440160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플랫폼</a:t>
            </a:r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251520" y="2780928"/>
            <a:ext cx="3216522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/>
              <a:t>// </a:t>
            </a:r>
            <a:r>
              <a:rPr lang="ko-KR" altLang="en-US" sz="1200" dirty="0" smtClean="0"/>
              <a:t>포탈</a:t>
            </a:r>
            <a:endParaRPr lang="en-US" altLang="ko-KR" sz="1200" dirty="0" smtClean="0"/>
          </a:p>
          <a:p>
            <a:r>
              <a:rPr lang="ko-KR" altLang="en-US" sz="1200" dirty="0" smtClean="0">
                <a:hlinkClick r:id="rId2"/>
              </a:rPr>
              <a:t>http</a:t>
            </a:r>
            <a:r>
              <a:rPr lang="ko-KR" altLang="en-US" sz="1200" dirty="0">
                <a:hlinkClick r:id="rId2"/>
              </a:rPr>
              <a:t>://spboxwin.iptime.org:3000</a:t>
            </a:r>
            <a:r>
              <a:rPr lang="ko-KR" altLang="en-US" sz="1200" dirty="0" smtClean="0">
                <a:hlinkClick r:id="rId2"/>
              </a:rPr>
              <a:t>/</a:t>
            </a:r>
            <a:endParaRPr lang="en-US" altLang="ko-KR" sz="1200" dirty="0" smtClean="0"/>
          </a:p>
          <a:p>
            <a:endParaRPr lang="en-US" altLang="ko-KR" sz="1200" dirty="0"/>
          </a:p>
          <a:p>
            <a:r>
              <a:rPr lang="en-US" altLang="ko-KR" sz="1200" dirty="0" smtClean="0"/>
              <a:t>// </a:t>
            </a:r>
            <a:r>
              <a:rPr lang="ko-KR" altLang="en-US" sz="1200" dirty="0" smtClean="0"/>
              <a:t>고객 사이트 관리 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수정</a:t>
            </a:r>
            <a:r>
              <a:rPr lang="en-US" altLang="ko-KR" sz="1200" dirty="0" smtClean="0"/>
              <a:t>/</a:t>
            </a:r>
            <a:r>
              <a:rPr lang="ko-KR" altLang="en-US" sz="1200" dirty="0" err="1" smtClean="0"/>
              <a:t>데이타</a:t>
            </a:r>
            <a:r>
              <a:rPr lang="en-US" altLang="ko-KR" sz="1200" dirty="0" smtClean="0"/>
              <a:t>)</a:t>
            </a:r>
          </a:p>
          <a:p>
            <a:r>
              <a:rPr lang="en-US" altLang="ko-KR" sz="1200" dirty="0">
                <a:hlinkClick r:id="rId3"/>
              </a:rPr>
              <a:t>http://</a:t>
            </a:r>
            <a:r>
              <a:rPr lang="en-US" altLang="ko-KR" sz="1200" dirty="0" smtClean="0">
                <a:hlinkClick r:id="rId3"/>
              </a:rPr>
              <a:t>spboxwin.iptime.org:3000/my/magok</a:t>
            </a:r>
            <a:endParaRPr lang="en-US" altLang="ko-KR" sz="1200" dirty="0" smtClean="0"/>
          </a:p>
          <a:p>
            <a:endParaRPr lang="en-US" altLang="ko-KR" sz="1200" dirty="0" smtClean="0"/>
          </a:p>
          <a:p>
            <a:r>
              <a:rPr lang="en-US" altLang="ko-KR" sz="1200" dirty="0" smtClean="0"/>
              <a:t>// </a:t>
            </a:r>
            <a:endParaRPr lang="en-US" altLang="ko-KR" sz="1200" dirty="0"/>
          </a:p>
          <a:p>
            <a:endParaRPr lang="ko-KR" altLang="en-US" sz="1200" dirty="0"/>
          </a:p>
        </p:txBody>
      </p:sp>
      <p:sp>
        <p:nvSpPr>
          <p:cNvPr id="17" name="직사각형 16"/>
          <p:cNvSpPr/>
          <p:nvPr/>
        </p:nvSpPr>
        <p:spPr>
          <a:xfrm>
            <a:off x="5940152" y="2564904"/>
            <a:ext cx="306071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/>
              <a:t>// </a:t>
            </a:r>
            <a:r>
              <a:rPr lang="ko-KR" altLang="en-US" sz="1200" dirty="0" smtClean="0"/>
              <a:t>플랫폼 </a:t>
            </a:r>
            <a:endParaRPr lang="en-US" altLang="ko-KR" sz="1200" dirty="0" smtClean="0"/>
          </a:p>
          <a:p>
            <a:r>
              <a:rPr lang="ko-KR" altLang="en-US" sz="1200" dirty="0">
                <a:hlinkClick r:id="rId4"/>
              </a:rPr>
              <a:t>http://spboxwin.iptime.org</a:t>
            </a:r>
            <a:r>
              <a:rPr lang="en-US" altLang="ko-KR" sz="1200" dirty="0" smtClean="0">
                <a:hlinkClick r:id="rId4"/>
              </a:rPr>
              <a:t>:3000/platform</a:t>
            </a:r>
            <a:endParaRPr lang="en-US" altLang="ko-KR" sz="1200" dirty="0" smtClean="0"/>
          </a:p>
          <a:p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6555328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059832" y="2996952"/>
            <a:ext cx="2736304" cy="86409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고객접근사이트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922585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476672"/>
            <a:ext cx="32403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계정 </a:t>
            </a:r>
            <a:r>
              <a:rPr lang="ko-KR" altLang="en-US" sz="1200" dirty="0" smtClean="0"/>
              <a:t> </a:t>
            </a:r>
            <a:endParaRPr lang="en-US" altLang="ko-KR" sz="1200" dirty="0" smtClean="0"/>
          </a:p>
          <a:p>
            <a:r>
              <a:rPr lang="ko-KR" altLang="en-US" sz="1200" dirty="0" smtClean="0"/>
              <a:t>테스트</a:t>
            </a:r>
            <a:r>
              <a:rPr lang="en-US" altLang="ko-KR" sz="1200" dirty="0" smtClean="0"/>
              <a:t>2 : </a:t>
            </a:r>
            <a:r>
              <a:rPr lang="en-US" altLang="ko-KR" sz="1200" dirty="0" smtClean="0">
                <a:hlinkClick r:id="rId2"/>
              </a:rPr>
              <a:t>test2@test.com</a:t>
            </a:r>
            <a:r>
              <a:rPr lang="en-US" altLang="ko-KR" sz="1200" dirty="0" smtClean="0"/>
              <a:t> , test123</a:t>
            </a:r>
          </a:p>
          <a:p>
            <a:r>
              <a:rPr lang="ko-KR" altLang="en-US" dirty="0" smtClean="0"/>
              <a:t>테스트</a:t>
            </a:r>
            <a:r>
              <a:rPr lang="en-US" altLang="ko-KR" dirty="0" smtClean="0"/>
              <a:t>1 : </a:t>
            </a:r>
            <a:r>
              <a:rPr lang="en-US" altLang="ko-KR" dirty="0" smtClean="0">
                <a:hlinkClick r:id="rId3"/>
              </a:rPr>
              <a:t>test@test.com</a:t>
            </a:r>
            <a:r>
              <a:rPr lang="en-US" altLang="ko-KR" dirty="0" smtClean="0"/>
              <a:t>,test123</a:t>
            </a:r>
            <a:endParaRPr lang="ko-KR" altLang="en-US" sz="1200" dirty="0"/>
          </a:p>
        </p:txBody>
      </p:sp>
      <p:sp>
        <p:nvSpPr>
          <p:cNvPr id="3" name="직사각형 2"/>
          <p:cNvSpPr/>
          <p:nvPr/>
        </p:nvSpPr>
        <p:spPr>
          <a:xfrm>
            <a:off x="481828" y="2174963"/>
            <a:ext cx="208903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/>
              <a:t>http://spboxwin.iptime.org:3000/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812" y="2420888"/>
            <a:ext cx="2693147" cy="1296144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81828" y="3921377"/>
            <a:ext cx="129614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가입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1921987" y="3962957"/>
            <a:ext cx="1108971" cy="5344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셀프제작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3290140" y="3921377"/>
            <a:ext cx="864096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배포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1921988" y="4641457"/>
            <a:ext cx="110897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본사제작의뢰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4413418" y="3942167"/>
            <a:ext cx="864096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/>
              <a:t>사이트관리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수정</a:t>
            </a:r>
            <a:r>
              <a:rPr lang="en-US" altLang="ko-KR" sz="1400" dirty="0" smtClean="0"/>
              <a:t>)</a:t>
            </a:r>
            <a:endParaRPr lang="ko-KR" altLang="en-US" sz="1400" dirty="0"/>
          </a:p>
        </p:txBody>
      </p:sp>
      <p:sp>
        <p:nvSpPr>
          <p:cNvPr id="10" name="직사각형 9"/>
          <p:cNvSpPr/>
          <p:nvPr/>
        </p:nvSpPr>
        <p:spPr>
          <a:xfrm>
            <a:off x="4431543" y="4713465"/>
            <a:ext cx="864096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운영</a:t>
            </a:r>
            <a:endParaRPr lang="ko-KR" altLang="en-US" sz="1400" dirty="0"/>
          </a:p>
        </p:txBody>
      </p:sp>
      <p:sp>
        <p:nvSpPr>
          <p:cNvPr id="11" name="직사각형 10"/>
          <p:cNvSpPr/>
          <p:nvPr/>
        </p:nvSpPr>
        <p:spPr>
          <a:xfrm>
            <a:off x="481828" y="1698653"/>
            <a:ext cx="126729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포탈</a:t>
            </a:r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481828" y="4641457"/>
            <a:ext cx="129614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로그인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82132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78226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059832" y="2996952"/>
            <a:ext cx="2736304" cy="86409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플랫폼사이트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09880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971600" y="692696"/>
            <a:ext cx="2520280" cy="12241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사이트 관리 </a:t>
            </a:r>
            <a:endParaRPr lang="en-US" altLang="ko-KR" dirty="0" smtClean="0"/>
          </a:p>
          <a:p>
            <a:pPr algn="ctr"/>
            <a:r>
              <a:rPr lang="ko-KR" altLang="en-US" dirty="0" err="1" smtClean="0"/>
              <a:t>사이트제작</a:t>
            </a:r>
            <a:endParaRPr lang="en-US" altLang="ko-KR" dirty="0" smtClean="0"/>
          </a:p>
          <a:p>
            <a:pPr algn="ctr"/>
            <a:r>
              <a:rPr lang="ko-KR" altLang="en-US" dirty="0" err="1" smtClean="0"/>
              <a:t>모듈연결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81654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44942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74692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4443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26175</TotalTime>
  <Words>680</Words>
  <Application>Microsoft Office PowerPoint</Application>
  <PresentationFormat>화면 슬라이드 쇼(4:3)</PresentationFormat>
  <Paragraphs>227</Paragraphs>
  <Slides>50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55" baseType="lpstr">
      <vt:lpstr>Pretendard</vt:lpstr>
      <vt:lpstr>맑은 고딕</vt:lpstr>
      <vt:lpstr>Arial</vt:lpstr>
      <vt:lpstr>Wingdings</vt:lpstr>
      <vt:lpstr>Office 테마</vt:lpstr>
      <vt:lpstr>My-plaform기획2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My-plaform</dc:title>
  <dc:creator>SeungHyeon Nam</dc:creator>
  <cp:lastModifiedBy>SeungHyeon Nam</cp:lastModifiedBy>
  <cp:revision>143</cp:revision>
  <dcterms:created xsi:type="dcterms:W3CDTF">2026-03-17T12:34:00Z</dcterms:created>
  <dcterms:modified xsi:type="dcterms:W3CDTF">2026-09-18T13:22:19Z</dcterms:modified>
</cp:coreProperties>
</file>