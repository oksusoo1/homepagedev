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sldIdLst>
    <p:sldId id="256" r:id="rId2"/>
    <p:sldId id="311" r:id="rId3"/>
    <p:sldId id="346" r:id="rId4"/>
    <p:sldId id="347" r:id="rId5"/>
    <p:sldId id="348" r:id="rId6"/>
    <p:sldId id="349" r:id="rId7"/>
    <p:sldId id="350" r:id="rId8"/>
    <p:sldId id="355" r:id="rId9"/>
    <p:sldId id="356" r:id="rId10"/>
    <p:sldId id="357" r:id="rId11"/>
    <p:sldId id="351" r:id="rId12"/>
    <p:sldId id="352" r:id="rId13"/>
    <p:sldId id="353" r:id="rId14"/>
    <p:sldId id="354" r:id="rId15"/>
    <p:sldId id="359" r:id="rId16"/>
    <p:sldId id="360" r:id="rId17"/>
    <p:sldId id="361" r:id="rId18"/>
    <p:sldId id="358" r:id="rId19"/>
    <p:sldId id="342" r:id="rId20"/>
    <p:sldId id="343" r:id="rId21"/>
    <p:sldId id="345" r:id="rId22"/>
    <p:sldId id="344" r:id="rId23"/>
    <p:sldId id="341" r:id="rId24"/>
    <p:sldId id="330" r:id="rId25"/>
    <p:sldId id="331" r:id="rId26"/>
    <p:sldId id="332" r:id="rId27"/>
    <p:sldId id="333" r:id="rId28"/>
    <p:sldId id="335" r:id="rId29"/>
    <p:sldId id="336" r:id="rId30"/>
    <p:sldId id="334" r:id="rId31"/>
    <p:sldId id="337" r:id="rId32"/>
    <p:sldId id="338" r:id="rId33"/>
    <p:sldId id="339" r:id="rId34"/>
    <p:sldId id="340" r:id="rId35"/>
    <p:sldId id="325" r:id="rId36"/>
    <p:sldId id="326" r:id="rId37"/>
    <p:sldId id="314" r:id="rId38"/>
    <p:sldId id="319" r:id="rId39"/>
    <p:sldId id="318" r:id="rId40"/>
    <p:sldId id="315" r:id="rId41"/>
    <p:sldId id="316" r:id="rId42"/>
    <p:sldId id="320" r:id="rId43"/>
    <p:sldId id="321" r:id="rId44"/>
    <p:sldId id="322" r:id="rId45"/>
    <p:sldId id="317" r:id="rId46"/>
    <p:sldId id="323" r:id="rId47"/>
    <p:sldId id="324" r:id="rId48"/>
    <p:sldId id="313" r:id="rId49"/>
    <p:sldId id="312" r:id="rId50"/>
    <p:sldId id="305" r:id="rId51"/>
    <p:sldId id="310" r:id="rId52"/>
    <p:sldId id="306" r:id="rId53"/>
    <p:sldId id="307" r:id="rId54"/>
    <p:sldId id="308" r:id="rId55"/>
    <p:sldId id="309" r:id="rId56"/>
    <p:sldId id="291" r:id="rId57"/>
    <p:sldId id="292" r:id="rId58"/>
    <p:sldId id="293" r:id="rId59"/>
    <p:sldId id="300" r:id="rId60"/>
    <p:sldId id="294" r:id="rId61"/>
    <p:sldId id="296" r:id="rId62"/>
    <p:sldId id="297" r:id="rId63"/>
    <p:sldId id="298" r:id="rId64"/>
    <p:sldId id="295" r:id="rId65"/>
    <p:sldId id="299" r:id="rId66"/>
    <p:sldId id="301" r:id="rId67"/>
    <p:sldId id="304" r:id="rId68"/>
    <p:sldId id="271" r:id="rId69"/>
    <p:sldId id="272" r:id="rId70"/>
    <p:sldId id="274" r:id="rId71"/>
    <p:sldId id="276" r:id="rId72"/>
    <p:sldId id="275" r:id="rId73"/>
    <p:sldId id="273" r:id="rId74"/>
    <p:sldId id="277" r:id="rId75"/>
    <p:sldId id="278" r:id="rId76"/>
    <p:sldId id="279" r:id="rId77"/>
    <p:sldId id="280" r:id="rId78"/>
    <p:sldId id="281" r:id="rId79"/>
    <p:sldId id="282" r:id="rId80"/>
    <p:sldId id="283" r:id="rId81"/>
    <p:sldId id="284" r:id="rId82"/>
    <p:sldId id="286" r:id="rId83"/>
    <p:sldId id="285" r:id="rId84"/>
    <p:sldId id="287" r:id="rId85"/>
    <p:sldId id="288" r:id="rId86"/>
    <p:sldId id="289" r:id="rId87"/>
    <p:sldId id="290" r:id="rId88"/>
    <p:sldId id="260" r:id="rId89"/>
    <p:sldId id="261" r:id="rId90"/>
    <p:sldId id="262" r:id="rId91"/>
    <p:sldId id="263" r:id="rId92"/>
    <p:sldId id="264" r:id="rId93"/>
    <p:sldId id="265" r:id="rId94"/>
    <p:sldId id="268" r:id="rId95"/>
    <p:sldId id="269" r:id="rId96"/>
    <p:sldId id="266" r:id="rId97"/>
    <p:sldId id="267" r:id="rId98"/>
    <p:sldId id="259" r:id="rId99"/>
    <p:sldId id="257" r:id="rId100"/>
    <p:sldId id="258" r:id="rId10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35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27A70-99B0-4C6B-97CA-130B17C8EC7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721E1-0787-45D0-ABD5-65A323428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721E1-0787-45D0-ABD5-65A323428C8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2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31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2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95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9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8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1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8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7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9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B49B-C0AE-447B-876C-1A453E2B644F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30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web.me/mysite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ailto:test2@test.com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hyperlink" Target="vscode-webview://0lldeta24lk8kce1b4e28hffuana45u5a5oo97f6759a0vfn3mqn/my-platform/app/api/payment/billing-auth/route.js" TargetMode="External"/><Relationship Id="rId4" Type="http://schemas.openxmlformats.org/officeDocument/2006/relationships/hyperlink" Target="vscode-webview://0lldeta24lk8kce1b4e28hffuana45u5a5oo97f6759a0vfn3mqn/my-platform/lib/deploy.js#L17-L18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imweb.me/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hyperlink" Target="https://pavvmktfbkpdtaayvplf.supabase.co/" TargetMode="Externa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My-</a:t>
            </a:r>
            <a:r>
              <a:rPr lang="en-US" altLang="ko-KR" dirty="0" err="1" smtClean="0"/>
              <a:t>plaform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기획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1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0768"/>
            <a:ext cx="8716863" cy="43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6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90872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>
                <a:latin typeface="-apple-system"/>
              </a:rPr>
              <a:t>고객이 개발의뢰하고 본사에서 플랫폼에서 접수</a:t>
            </a:r>
            <a:r>
              <a:rPr lang="en-US" altLang="ko-KR" sz="1000" dirty="0">
                <a:latin typeface="-apple-system"/>
              </a:rPr>
              <a:t>, </a:t>
            </a:r>
            <a:r>
              <a:rPr lang="ko-KR" altLang="en-US" sz="1000" dirty="0">
                <a:latin typeface="-apple-system"/>
              </a:rPr>
              <a:t>검토</a:t>
            </a:r>
            <a:r>
              <a:rPr lang="en-US" altLang="ko-KR" sz="1000" dirty="0">
                <a:latin typeface="-apple-system"/>
              </a:rPr>
              <a:t>, </a:t>
            </a:r>
            <a:r>
              <a:rPr lang="ko-KR" altLang="en-US" sz="1000" dirty="0">
                <a:latin typeface="-apple-system"/>
              </a:rPr>
              <a:t>요건 확인하고 선금 </a:t>
            </a:r>
            <a:r>
              <a:rPr lang="en-US" altLang="ko-KR" sz="1000" dirty="0">
                <a:latin typeface="-apple-system"/>
              </a:rPr>
              <a:t>50% </a:t>
            </a:r>
            <a:r>
              <a:rPr lang="ko-KR" altLang="en-US" sz="1000" dirty="0">
                <a:latin typeface="-apple-system"/>
              </a:rPr>
              <a:t>받고 </a:t>
            </a:r>
            <a:r>
              <a:rPr lang="ko-KR" altLang="en-US" sz="1000" dirty="0" err="1">
                <a:latin typeface="-apple-system"/>
              </a:rPr>
              <a:t>개발시작해</a:t>
            </a:r>
            <a:r>
              <a:rPr lang="en-US" altLang="ko-KR" sz="1000" dirty="0">
                <a:latin typeface="-apple-system"/>
              </a:rPr>
              <a:t>, </a:t>
            </a:r>
            <a:r>
              <a:rPr lang="ko-KR" altLang="en-US" sz="1000" dirty="0" err="1">
                <a:latin typeface="-apple-system"/>
              </a:rPr>
              <a:t>요건확인은</a:t>
            </a:r>
            <a:r>
              <a:rPr lang="ko-KR" altLang="en-US" sz="1000" dirty="0">
                <a:latin typeface="-apple-system"/>
              </a:rPr>
              <a:t> 이메일 </a:t>
            </a:r>
            <a:r>
              <a:rPr lang="en-US" altLang="ko-KR" sz="1000" dirty="0">
                <a:latin typeface="-apple-system"/>
              </a:rPr>
              <a:t>, </a:t>
            </a:r>
            <a:r>
              <a:rPr lang="ko-KR" altLang="en-US" sz="1000" dirty="0" err="1">
                <a:latin typeface="-apple-system"/>
              </a:rPr>
              <a:t>전화등등</a:t>
            </a:r>
            <a:r>
              <a:rPr lang="ko-KR" altLang="en-US" sz="1000" dirty="0">
                <a:latin typeface="-apple-system"/>
              </a:rPr>
              <a:t> 고객과 소통</a:t>
            </a:r>
            <a:r>
              <a:rPr lang="en-US" altLang="ko-KR" sz="1000" dirty="0">
                <a:latin typeface="-apple-system"/>
              </a:rPr>
              <a:t>. </a:t>
            </a:r>
            <a:r>
              <a:rPr lang="ko-KR" altLang="en-US" sz="1000" dirty="0" smtClean="0">
                <a:latin typeface="-apple-system"/>
              </a:rPr>
              <a:t>프로세스관리는 본사에서 </a:t>
            </a:r>
            <a:r>
              <a:rPr lang="en-US" altLang="ko-KR" sz="1000" dirty="0" smtClean="0">
                <a:latin typeface="-apple-system"/>
              </a:rPr>
              <a:t>/</a:t>
            </a:r>
            <a:r>
              <a:rPr lang="ko-KR" altLang="en-US" sz="1000" dirty="0" smtClean="0">
                <a:latin typeface="-apple-system"/>
              </a:rPr>
              <a:t>플랫폼에서 관리</a:t>
            </a:r>
            <a:r>
              <a:rPr lang="en-US" altLang="ko-KR" sz="1000" dirty="0" smtClean="0">
                <a:latin typeface="-apple-system"/>
              </a:rPr>
              <a:t>. </a:t>
            </a:r>
          </a:p>
          <a:p>
            <a:endParaRPr lang="en-US" altLang="ko-KR" sz="1000" dirty="0">
              <a:latin typeface="-apple-system"/>
            </a:endParaRPr>
          </a:p>
          <a:p>
            <a:endParaRPr lang="en-US" altLang="ko-KR" sz="1000" dirty="0" smtClean="0">
              <a:latin typeface="-apple-system"/>
            </a:endParaRPr>
          </a:p>
          <a:p>
            <a:endParaRPr lang="ko-KR" alt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260648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20260417 </a:t>
            </a:r>
            <a:r>
              <a:rPr lang="ko-KR" altLang="en-US" dirty="0" smtClean="0"/>
              <a:t>루트 </a:t>
            </a:r>
            <a:r>
              <a:rPr lang="en-US" altLang="ko-KR" dirty="0" smtClean="0"/>
              <a:t>B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4318" y="2165086"/>
            <a:ext cx="5688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내사이트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고객포털</a:t>
            </a:r>
            <a:r>
              <a:rPr lang="en-US" altLang="ko-KR" sz="1400" dirty="0" smtClean="0"/>
              <a:t>)</a:t>
            </a:r>
            <a:r>
              <a:rPr lang="en-US" altLang="ko-KR" sz="1400" dirty="0" smtClean="0">
                <a:sym typeface="Wingdings" panose="05000000000000000000" pitchFamily="2" charset="2"/>
              </a:rPr>
              <a:t> </a:t>
            </a:r>
            <a:r>
              <a:rPr lang="ko-KR" altLang="en-US" sz="1400" dirty="0" err="1" smtClean="0">
                <a:sym typeface="Wingdings" panose="05000000000000000000" pitchFamily="2" charset="2"/>
              </a:rPr>
              <a:t>수정페이지</a:t>
            </a:r>
            <a:r>
              <a:rPr lang="en-US" altLang="ko-KR" sz="1400" dirty="0" smtClean="0">
                <a:sym typeface="Wingdings" panose="05000000000000000000" pitchFamily="2" charset="2"/>
              </a:rPr>
              <a:t>, </a:t>
            </a:r>
            <a:r>
              <a:rPr lang="ko-KR" altLang="en-US" sz="1400" dirty="0" smtClean="0">
                <a:sym typeface="Wingdings" panose="05000000000000000000" pitchFamily="2" charset="2"/>
              </a:rPr>
              <a:t>고객사이트이동</a:t>
            </a:r>
            <a:endParaRPr lang="ko-KR" altLang="en-US" sz="1400" dirty="0"/>
          </a:p>
        </p:txBody>
      </p:sp>
      <p:sp>
        <p:nvSpPr>
          <p:cNvPr id="8" name="직사각형 7"/>
          <p:cNvSpPr/>
          <p:nvPr/>
        </p:nvSpPr>
        <p:spPr>
          <a:xfrm>
            <a:off x="518252" y="3578018"/>
            <a:ext cx="1261594" cy="291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사이트개설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3780480" y="3431303"/>
            <a:ext cx="2195675" cy="313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사이트접근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2729818" y="3451196"/>
            <a:ext cx="708125" cy="2934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배포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2724765" y="3933056"/>
            <a:ext cx="3251390" cy="3001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사이트접근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2729818" y="2898907"/>
            <a:ext cx="3246338" cy="390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트라이얼시작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6444208" y="3402894"/>
            <a:ext cx="1368152" cy="390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구독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8088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64704"/>
            <a:ext cx="7578278" cy="17816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996952"/>
            <a:ext cx="4667722" cy="255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7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88840"/>
            <a:ext cx="8493015" cy="45565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528" y="1412776"/>
            <a:ext cx="2783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https://imweb.me/mysite</a:t>
            </a:r>
          </a:p>
        </p:txBody>
      </p:sp>
    </p:spTree>
    <p:extLst>
      <p:ext uri="{BB962C8B-B14F-4D97-AF65-F5344CB8AC3E}">
        <p14:creationId xmlns:p14="http://schemas.microsoft.com/office/powerpoint/2010/main" val="64660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76672"/>
            <a:ext cx="2735165" cy="26489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1" y="476672"/>
            <a:ext cx="5470827" cy="26489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12" y="3717032"/>
            <a:ext cx="2988196" cy="13345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36" y="3429000"/>
            <a:ext cx="3995341" cy="285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6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76672"/>
            <a:ext cx="8078838" cy="31134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092280" y="4005064"/>
            <a:ext cx="18002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디자인모드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081530" y="4941168"/>
            <a:ext cx="180020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게시하기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172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54868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아임웹은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사이트당 </a:t>
            </a:r>
            <a:r>
              <a:rPr lang="ko-KR" altLang="en-US" dirty="0" err="1" smtClean="0"/>
              <a:t>구독요금을</a:t>
            </a:r>
            <a:r>
              <a:rPr lang="ko-KR" altLang="en-US" dirty="0" smtClean="0"/>
              <a:t> 받는다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월</a:t>
            </a:r>
            <a:r>
              <a:rPr lang="en-US" altLang="ko-KR" dirty="0" smtClean="0"/>
              <a:t>~~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6792"/>
            <a:ext cx="6508861" cy="375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29928"/>
            <a:ext cx="6454284" cy="311489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501008"/>
            <a:ext cx="6131546" cy="31353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5733256"/>
            <a:ext cx="2367057" cy="4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04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내 플랫폼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5060788" cy="449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4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62067" y="2402931"/>
            <a:ext cx="6120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https://oksusoo133757.imweb.me/admin/design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5536" y="260648"/>
            <a:ext cx="79208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고객포털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템플릿선택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사이트 관리자모드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디자인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게시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사이트운영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62067" y="1763524"/>
            <a:ext cx="4434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https://oksusoo133757.imweb.me/admin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48477" y="1394192"/>
            <a:ext cx="2783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https://</a:t>
            </a:r>
            <a:r>
              <a:rPr lang="ko-KR" altLang="en-US" dirty="0" smtClean="0">
                <a:hlinkClick r:id="rId2"/>
              </a:rPr>
              <a:t>imweb.me/mysite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75049" y="3203684"/>
            <a:ext cx="3782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https://oksusoo133757.imweb.me/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302574" y="1393545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고객포털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436096" y="1439164"/>
            <a:ext cx="3312368" cy="268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사이트개설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사이트관리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템플릿변경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4830959" y="1797452"/>
            <a:ext cx="2560104" cy="325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사이트 </a:t>
            </a:r>
            <a:r>
              <a:rPr lang="ko-KR" altLang="en-US" dirty="0"/>
              <a:t>관리자모드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690659" y="2387342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디자인 모드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716016" y="3074980"/>
            <a:ext cx="21599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사이트운영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395536" y="4221088"/>
            <a:ext cx="2746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http://localhost:3000/my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96347" y="4599142"/>
            <a:ext cx="3555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http://localhost:3000/my/magok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96550" y="5053826"/>
            <a:ext cx="3855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http://localhost:3000/editor/magok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75049" y="5616546"/>
            <a:ext cx="4039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http://localhost:3000/preview/magok</a:t>
            </a:r>
          </a:p>
        </p:txBody>
      </p:sp>
    </p:spTree>
    <p:extLst>
      <p:ext uri="{BB962C8B-B14F-4D97-AF65-F5344CB8AC3E}">
        <p14:creationId xmlns:p14="http://schemas.microsoft.com/office/powerpoint/2010/main" val="104346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55" y="3573016"/>
            <a:ext cx="5745238" cy="29629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76672"/>
            <a:ext cx="6177286" cy="235586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3528" y="260648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고객포털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23528" y="2996952"/>
            <a:ext cx="288032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고객사이트</a:t>
            </a:r>
            <a:r>
              <a:rPr lang="ko-KR" altLang="en-US" dirty="0"/>
              <a:t> 관리자모드</a:t>
            </a:r>
          </a:p>
        </p:txBody>
      </p:sp>
    </p:spTree>
    <p:extLst>
      <p:ext uri="{BB962C8B-B14F-4D97-AF65-F5344CB8AC3E}">
        <p14:creationId xmlns:p14="http://schemas.microsoft.com/office/powerpoint/2010/main" val="58436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7331349" cy="320770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3528" y="116632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디자인 모드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58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4319824" cy="252568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39552" y="260648"/>
            <a:ext cx="21599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사이트운영</a:t>
            </a:r>
          </a:p>
        </p:txBody>
      </p:sp>
    </p:spTree>
    <p:extLst>
      <p:ext uri="{BB962C8B-B14F-4D97-AF65-F5344CB8AC3E}">
        <p14:creationId xmlns:p14="http://schemas.microsoft.com/office/powerpoint/2010/main" val="210436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테스트</a:t>
            </a:r>
            <a:r>
              <a:rPr lang="en-US" altLang="ko-KR" dirty="0" smtClean="0"/>
              <a:t>3 </a:t>
            </a:r>
            <a:r>
              <a:rPr lang="ko-KR" altLang="en-US" dirty="0" smtClean="0"/>
              <a:t>계정 테스트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3" y="1700808"/>
            <a:ext cx="3006909" cy="160425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19674" y="980728"/>
            <a:ext cx="6032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374151"/>
                </a:solidFill>
                <a:latin typeface="-apple-system"/>
              </a:rPr>
              <a:t>에디터에서 배포하기하면 </a:t>
            </a:r>
            <a:r>
              <a:rPr lang="ko-KR" altLang="en-US" dirty="0" smtClean="0">
                <a:solidFill>
                  <a:srgbClr val="374151"/>
                </a:solidFill>
                <a:latin typeface="-apple-system"/>
              </a:rPr>
              <a:t>카드 등록 안하고 그냥 배포됨</a:t>
            </a:r>
            <a:r>
              <a:rPr lang="en-US" altLang="ko-KR" dirty="0" smtClean="0">
                <a:solidFill>
                  <a:srgbClr val="374151"/>
                </a:solidFill>
                <a:latin typeface="-apple-system"/>
              </a:rPr>
              <a:t>.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661" y="2060848"/>
            <a:ext cx="4961339" cy="388739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182661" y="1412776"/>
            <a:ext cx="1829499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수정완료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490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07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30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771800" y="2636912"/>
            <a:ext cx="381642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4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26064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20260415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836712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계정 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테스트</a:t>
            </a:r>
            <a:r>
              <a:rPr lang="en-US" altLang="ko-KR" dirty="0" smtClean="0"/>
              <a:t>2 : </a:t>
            </a:r>
            <a:r>
              <a:rPr lang="en-US" altLang="ko-KR" dirty="0" smtClean="0">
                <a:hlinkClick r:id="rId2"/>
              </a:rPr>
              <a:t>test2@test.com</a:t>
            </a:r>
            <a:r>
              <a:rPr lang="en-US" altLang="ko-KR" dirty="0" smtClean="0"/>
              <a:t> , test123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23528" y="1495817"/>
            <a:ext cx="2880320" cy="709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본사제작의뢰 </a:t>
            </a:r>
            <a:r>
              <a:rPr lang="en-US" altLang="ko-KR" dirty="0" smtClean="0"/>
              <a:t>flow </a:t>
            </a:r>
            <a:r>
              <a:rPr lang="ko-KR" altLang="en-US" dirty="0" smtClean="0"/>
              <a:t>기획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348880"/>
            <a:ext cx="5116558" cy="380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5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00808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 사이트 제작 문의하기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051720" y="620688"/>
            <a:ext cx="1368152" cy="478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사용자 </a:t>
            </a:r>
            <a:r>
              <a:rPr lang="en-US" altLang="ko-KR" sz="1000" dirty="0" smtClean="0"/>
              <a:t>page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2051720" y="3212976"/>
            <a:ext cx="136815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플랫폼관리자페이지</a:t>
            </a:r>
            <a:endParaRPr lang="ko-KR" altLang="en-US" sz="10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88640"/>
            <a:ext cx="2927913" cy="28202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99" y="3183565"/>
            <a:ext cx="4666827" cy="247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32656"/>
            <a:ext cx="4392488" cy="182150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836712"/>
            <a:ext cx="4439022" cy="22362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08" y="2658218"/>
            <a:ext cx="4168527" cy="164842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4653136"/>
            <a:ext cx="4304746" cy="15854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3408291"/>
            <a:ext cx="3382153" cy="218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8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04664"/>
            <a:ext cx="7238776" cy="370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3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836712"/>
            <a:ext cx="3841379" cy="27836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260648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20260414 </a:t>
            </a:r>
            <a:r>
              <a:rPr lang="en-US" altLang="ko-KR" dirty="0" smtClean="0"/>
              <a:t> :: </a:t>
            </a:r>
            <a:r>
              <a:rPr lang="ko-KR" altLang="en-US" dirty="0" smtClean="0"/>
              <a:t>구독해지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탈퇴 확인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628" y="1844824"/>
            <a:ext cx="7680852" cy="460851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779912" y="4653136"/>
            <a:ext cx="4752528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355976" y="1052736"/>
            <a:ext cx="352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탈퇴했는데 왜 </a:t>
            </a:r>
            <a:r>
              <a:rPr lang="ko-KR" altLang="en-US" dirty="0" err="1" smtClean="0"/>
              <a:t>탈퇴버튼이</a:t>
            </a:r>
            <a:r>
              <a:rPr lang="ko-KR" altLang="en-US" dirty="0" smtClean="0"/>
              <a:t> 있지</a:t>
            </a:r>
            <a:r>
              <a:rPr lang="en-US" altLang="ko-KR" dirty="0" smtClean="0"/>
              <a:t>? </a:t>
            </a:r>
            <a:r>
              <a:rPr lang="ko-KR" altLang="en-US" dirty="0" err="1" smtClean="0"/>
              <a:t>종료일이후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자동탈퇴처리된다고</a:t>
            </a:r>
            <a:r>
              <a:rPr lang="ko-KR" altLang="en-US" dirty="0" smtClean="0"/>
              <a:t> 안내가 있어야지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209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915" y="11663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구독해지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탈퇴시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15" y="620688"/>
            <a:ext cx="5328592" cy="57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0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개발검증</a:t>
            </a:r>
            <a:r>
              <a:rPr lang="en-US" altLang="ko-KR" sz="1000" dirty="0" smtClean="0"/>
              <a:t>)</a:t>
            </a:r>
          </a:p>
          <a:p>
            <a:r>
              <a:rPr lang="ko-KR" altLang="en-US" sz="1000" dirty="0" err="1" smtClean="0"/>
              <a:t>테스트카페</a:t>
            </a:r>
            <a:r>
              <a:rPr lang="ko-KR" altLang="en-US" sz="1000" dirty="0" smtClean="0"/>
              <a:t> 배포하고 임의로 </a:t>
            </a:r>
            <a:r>
              <a:rPr lang="ko-KR" altLang="en-US" sz="1000" dirty="0" err="1" smtClean="0"/>
              <a:t>카드등록했는데</a:t>
            </a:r>
            <a:r>
              <a:rPr lang="ko-KR" altLang="en-US" sz="1000" dirty="0" smtClean="0"/>
              <a:t> 왜 </a:t>
            </a:r>
            <a:r>
              <a:rPr lang="ko-KR" altLang="en-US" sz="1000" dirty="0" err="1" smtClean="0"/>
              <a:t>결제내역이</a:t>
            </a:r>
            <a:r>
              <a:rPr lang="ko-KR" altLang="en-US" sz="1000" dirty="0" smtClean="0"/>
              <a:t>  아무것도 없지</a:t>
            </a:r>
            <a:r>
              <a:rPr lang="en-US" altLang="ko-KR" sz="1000" dirty="0" smtClean="0"/>
              <a:t>? </a:t>
            </a:r>
            <a:r>
              <a:rPr lang="ko-KR" altLang="en-US" sz="1000" dirty="0" smtClean="0"/>
              <a:t>그리고 왜 다음결제일이 </a:t>
            </a:r>
            <a:r>
              <a:rPr lang="en-US" altLang="ko-KR" sz="1000" dirty="0" smtClean="0"/>
              <a:t>2026.5.1</a:t>
            </a:r>
            <a:r>
              <a:rPr lang="ko-KR" altLang="en-US" sz="1000" dirty="0" smtClean="0"/>
              <a:t>일이야</a:t>
            </a:r>
            <a:r>
              <a:rPr lang="en-US" altLang="ko-KR" sz="1000" dirty="0" smtClean="0"/>
              <a:t>? </a:t>
            </a:r>
            <a:r>
              <a:rPr lang="ko-KR" altLang="en-US" sz="1000" dirty="0" err="1" smtClean="0"/>
              <a:t>첫달은</a:t>
            </a:r>
            <a:r>
              <a:rPr lang="ko-KR" altLang="en-US" sz="1000" dirty="0" smtClean="0"/>
              <a:t> </a:t>
            </a:r>
            <a:r>
              <a:rPr lang="ko-KR" altLang="en-US" sz="1000" dirty="0"/>
              <a:t>무료체험기간이 있으니 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배포한일자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+14</a:t>
            </a:r>
            <a:r>
              <a:rPr lang="ko-KR" altLang="en-US" sz="1000" dirty="0" smtClean="0"/>
              <a:t>일 </a:t>
            </a:r>
            <a:r>
              <a:rPr lang="en-US" altLang="ko-KR" sz="1000" dirty="0" smtClean="0"/>
              <a:t>+ 1</a:t>
            </a:r>
            <a:r>
              <a:rPr lang="ko-KR" altLang="en-US" sz="1000" dirty="0" smtClean="0"/>
              <a:t>달 날이 다음결제일아녀</a:t>
            </a:r>
            <a:r>
              <a:rPr lang="en-US" altLang="ko-KR" sz="1000" dirty="0" smtClean="0"/>
              <a:t>? </a:t>
            </a:r>
            <a:r>
              <a:rPr lang="ko-KR" altLang="en-US" sz="1000" dirty="0" smtClean="0"/>
              <a:t>그리고 다음달부터는 다음달의 날짜가 </a:t>
            </a:r>
            <a:r>
              <a:rPr lang="ko-KR" altLang="en-US" sz="1000" dirty="0" err="1" smtClean="0"/>
              <a:t>다음결제일이고</a:t>
            </a:r>
            <a:r>
              <a:rPr lang="en-US" altLang="ko-KR" sz="1000" dirty="0" smtClean="0"/>
              <a:t>…</a:t>
            </a:r>
            <a:endParaRPr lang="ko-KR" altLang="en-US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44824"/>
            <a:ext cx="5472608" cy="45234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042" y="818168"/>
            <a:ext cx="4259635" cy="102665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419872" y="2420888"/>
            <a:ext cx="5456943" cy="1323439"/>
          </a:xfrm>
          <a:prstGeom prst="rect">
            <a:avLst/>
          </a:prstGeom>
          <a:solidFill>
            <a:srgbClr val="FFFB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수정 내용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1. 다음 결제일 계산 버그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—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4"/>
              </a:rPr>
              <a:t>lib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4"/>
              </a:rPr>
              <a:t>/deploy.js:17-18</a:t>
            </a:r>
            <a:endParaRPr kumimoji="0" lang="ko-KR" altLang="ko-KR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AS-IS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: 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nextBilling.setDate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(1)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 →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체험종료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다음달 </a:t>
            </a: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1일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로 강제 고정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TO-BE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: 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setDate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(1)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 제거 →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체험종료일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+ 1달 날짜 그대로 유지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예: 4/13 배포 →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체험종료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4/27 →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다음결제일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 </a:t>
            </a: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5/27</a:t>
            </a:r>
            <a:endParaRPr kumimoji="0" lang="ko-KR" altLang="ko-KR" sz="800" b="0" i="0" u="none" strike="noStrike" cap="none" normalizeH="0" baseline="0" dirty="0" smtClean="0">
              <a:ln>
                <a:noFill/>
              </a:ln>
              <a:solidFill>
                <a:srgbClr val="374151"/>
              </a:solidFill>
              <a:effectLst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2. 결제 내역 자동 생성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—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app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/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api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/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payment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/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billing-auth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  <a:hlinkClick r:id="rId5"/>
              </a:rPr>
              <a:t>/route.js</a:t>
            </a:r>
            <a:endParaRPr kumimoji="0" lang="ko-KR" altLang="ko-KR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카드 등록 시 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billing_history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에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다음 결제 예정 레코드(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status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: '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unpaid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latin typeface="Arial Unicode MS"/>
                <a:ea typeface="var(--app-monospace-font-family)"/>
              </a:rPr>
              <a:t>'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) 자동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insert</a:t>
            </a:r>
            <a:endParaRPr kumimoji="0" lang="ko-KR" altLang="ko-KR" sz="800" b="0" i="0" u="none" strike="noStrike" cap="none" normalizeH="0" baseline="0" dirty="0" smtClean="0">
              <a:ln>
                <a:noFill/>
              </a:ln>
              <a:solidFill>
                <a:srgbClr val="374151"/>
              </a:solidFill>
              <a:effectLst/>
              <a:ea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이미 해당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period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rgbClr val="374151"/>
                </a:solidFill>
                <a:effectLst/>
                <a:ea typeface="-apple-system"/>
              </a:rPr>
              <a:t> 레코드가 있으면 중복 생성 안 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참고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체험 기간 중 카드 등록이므로 결제 내역에는 "다음달 이용료 - 미납"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으로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표시됩니다. 실제 결제가 이루어지면 </a:t>
            </a:r>
            <a:endParaRPr kumimoji="0" lang="en-US" altLang="ko-KR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app-monospace-font-family)"/>
              </a:rPr>
              <a:t>paid_at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과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app-monospace-font-family)"/>
              </a:rPr>
              <a:t>status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app-monospace-font-family)"/>
              </a:rPr>
              <a:t>: '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app-monospace-font-family)"/>
              </a:rPr>
              <a:t>paid'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로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업데이트하는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로직은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실결제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연동 시 추가하면 됩니다.</a:t>
            </a:r>
          </a:p>
        </p:txBody>
      </p:sp>
    </p:spTree>
    <p:extLst>
      <p:ext uri="{BB962C8B-B14F-4D97-AF65-F5344CB8AC3E}">
        <p14:creationId xmlns:p14="http://schemas.microsoft.com/office/powerpoint/2010/main" val="232484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340768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배포 </a:t>
            </a:r>
            <a:r>
              <a:rPr lang="en-US" altLang="ko-KR" dirty="0" smtClean="0"/>
              <a:t>: 14</a:t>
            </a:r>
            <a:r>
              <a:rPr lang="ko-KR" altLang="en-US" dirty="0" smtClean="0"/>
              <a:t>일 무료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카드등록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구독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 (</a:t>
            </a:r>
            <a:r>
              <a:rPr lang="ko-KR" altLang="en-US" dirty="0" smtClean="0"/>
              <a:t>결제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계좌이체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자동이체 등록</a:t>
            </a:r>
            <a:r>
              <a:rPr lang="en-US" altLang="ko-KR" dirty="0" smtClean="0"/>
              <a:t>: </a:t>
            </a:r>
            <a:r>
              <a:rPr lang="ko-KR" altLang="en-US" dirty="0" smtClean="0"/>
              <a:t>어려우면 다음에 구현</a:t>
            </a:r>
            <a:r>
              <a:rPr lang="en-US" altLang="ko-KR" dirty="0" smtClean="0"/>
              <a:t>))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932040" y="1268760"/>
            <a:ext cx="3793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카드 미리 등록하면 </a:t>
            </a:r>
            <a:r>
              <a:rPr lang="ko-KR" altLang="en-US" dirty="0" err="1"/>
              <a:t>등록한날로</a:t>
            </a:r>
            <a:r>
              <a:rPr lang="ko-KR" altLang="en-US" dirty="0"/>
              <a:t> 자동 청구되지만 </a:t>
            </a:r>
            <a:r>
              <a:rPr lang="en-US" altLang="ko-KR" dirty="0"/>
              <a:t>, </a:t>
            </a:r>
            <a:r>
              <a:rPr lang="ko-KR" altLang="en-US" dirty="0"/>
              <a:t>다음결재일을 </a:t>
            </a:r>
            <a:r>
              <a:rPr lang="en-US" altLang="ko-KR" dirty="0"/>
              <a:t>trial </a:t>
            </a:r>
            <a:r>
              <a:rPr lang="ko-KR" altLang="en-US" dirty="0"/>
              <a:t>일자를 더해서 계산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67544" y="764704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현재 </a:t>
            </a:r>
            <a:r>
              <a:rPr lang="ko-KR" altLang="en-US" b="1" dirty="0" err="1">
                <a:solidFill>
                  <a:srgbClr val="374151"/>
                </a:solidFill>
                <a:latin typeface="-apple-system"/>
              </a:rPr>
              <a:t>로직</a:t>
            </a:r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 </a:t>
            </a:r>
            <a:r>
              <a:rPr lang="en-US" altLang="ko-KR" b="1" dirty="0">
                <a:solidFill>
                  <a:srgbClr val="374151"/>
                </a:solidFill>
                <a:latin typeface="-apple-system"/>
              </a:rPr>
              <a:t>vs </a:t>
            </a:r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원하는 </a:t>
            </a:r>
            <a:r>
              <a:rPr lang="ko-KR" altLang="en-US" b="1" dirty="0" err="1">
                <a:solidFill>
                  <a:srgbClr val="374151"/>
                </a:solidFill>
                <a:latin typeface="-apple-system"/>
              </a:rPr>
              <a:t>로직</a:t>
            </a:r>
            <a:endParaRPr lang="ko-KR" altLang="en-US" b="1" i="0" dirty="0">
              <a:solidFill>
                <a:srgbClr val="374151"/>
              </a:solidFill>
              <a:effectLst/>
              <a:latin typeface="-apple-system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564904"/>
            <a:ext cx="4704962" cy="409127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67544" y="153308"/>
            <a:ext cx="5904656" cy="404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결재로직</a:t>
            </a:r>
            <a:r>
              <a:rPr lang="ko-KR" altLang="en-US" dirty="0" smtClean="0"/>
              <a:t> </a:t>
            </a:r>
            <a:r>
              <a:rPr lang="en-US" altLang="ko-KR" dirty="0" smtClean="0"/>
              <a:t>:: </a:t>
            </a:r>
            <a:r>
              <a:rPr lang="ko-KR" altLang="en-US" dirty="0" smtClean="0"/>
              <a:t>배포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카드등록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결재됨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19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67544" y="153308"/>
            <a:ext cx="5904656" cy="404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로직</a:t>
            </a:r>
            <a:r>
              <a:rPr lang="ko-KR" altLang="en-US" dirty="0" smtClean="0"/>
              <a:t> </a:t>
            </a:r>
            <a:r>
              <a:rPr lang="en-US" altLang="ko-KR" dirty="0" smtClean="0"/>
              <a:t>:: </a:t>
            </a:r>
            <a:r>
              <a:rPr lang="ko-KR" altLang="en-US" dirty="0" smtClean="0"/>
              <a:t>배포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카드등록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결재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구독됨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구독취소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67544" y="692696"/>
            <a:ext cx="5904656" cy="404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로직 </a:t>
            </a:r>
            <a:r>
              <a:rPr lang="en-US" altLang="ko-KR" smtClean="0"/>
              <a:t>:: </a:t>
            </a:r>
            <a:r>
              <a:rPr lang="ko-KR" altLang="en-US" smtClean="0"/>
              <a:t>배포 </a:t>
            </a:r>
            <a:r>
              <a:rPr lang="en-US" altLang="ko-KR" smtClean="0"/>
              <a:t>&gt; trial </a:t>
            </a:r>
            <a:r>
              <a:rPr lang="ko-KR" altLang="en-US" smtClean="0"/>
              <a:t>기간 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67544" y="1641574"/>
            <a:ext cx="5544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dirty="0" smtClean="0"/>
              <a:t>구독 </a:t>
            </a:r>
            <a:r>
              <a:rPr lang="ko-KR" altLang="en-US" dirty="0"/>
              <a:t>해지 </a:t>
            </a:r>
            <a:r>
              <a:rPr lang="ko-KR" altLang="en-US" dirty="0" smtClean="0"/>
              <a:t>시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en-US" altLang="ko-KR" dirty="0"/>
              <a:t>"</a:t>
            </a:r>
            <a:r>
              <a:rPr lang="ko-KR" altLang="en-US" dirty="0"/>
              <a:t>즉시 종료인가</a:t>
            </a:r>
            <a:r>
              <a:rPr lang="en-US" altLang="ko-KR" dirty="0"/>
              <a:t>, </a:t>
            </a:r>
            <a:r>
              <a:rPr lang="ko-KR" altLang="en-US" dirty="0"/>
              <a:t>기간 보장인가</a:t>
            </a:r>
            <a:r>
              <a:rPr lang="en-US" altLang="ko-KR" dirty="0" smtClean="0"/>
              <a:t>?“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잔여 기간 </a:t>
            </a:r>
            <a:r>
              <a:rPr lang="ko-KR" altLang="en-US" dirty="0" smtClean="0"/>
              <a:t>보장</a:t>
            </a:r>
            <a:r>
              <a:rPr lang="en-US" altLang="ko-KR" dirty="0" smtClean="0"/>
              <a:t>,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데이터는</a:t>
            </a:r>
            <a:r>
              <a:rPr lang="en-US" altLang="ko-KR" dirty="0" smtClean="0"/>
              <a:t>?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재구독을</a:t>
            </a:r>
            <a:r>
              <a:rPr lang="ko-KR" altLang="en-US" dirty="0" smtClean="0"/>
              <a:t> 대비해서 보관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사이트만 비활성화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smtClean="0"/>
              <a:t>Trial</a:t>
            </a:r>
            <a:r>
              <a:rPr lang="en-US" altLang="ko-KR" dirty="0"/>
              <a:t>(</a:t>
            </a:r>
            <a:r>
              <a:rPr lang="ko-KR" altLang="en-US" dirty="0" err="1"/>
              <a:t>체험판</a:t>
            </a:r>
            <a:r>
              <a:rPr lang="en-US" altLang="ko-KR" dirty="0"/>
              <a:t>) </a:t>
            </a:r>
            <a:r>
              <a:rPr lang="ko-KR" altLang="en-US" dirty="0"/>
              <a:t>정책</a:t>
            </a:r>
            <a:r>
              <a:rPr lang="en-US" altLang="ko-KR" dirty="0"/>
              <a:t>: "</a:t>
            </a:r>
            <a:r>
              <a:rPr lang="ko-KR" altLang="en-US" dirty="0" err="1"/>
              <a:t>어뷰징</a:t>
            </a:r>
            <a:r>
              <a:rPr lang="en-US" altLang="ko-KR" dirty="0"/>
              <a:t>(Abuse) </a:t>
            </a:r>
            <a:r>
              <a:rPr lang="ko-KR" altLang="en-US" dirty="0" smtClean="0"/>
              <a:t>방지</a:t>
            </a:r>
            <a:r>
              <a:rPr lang="en-US" altLang="ko-KR" dirty="0" smtClean="0"/>
              <a:t>“</a:t>
            </a:r>
          </a:p>
          <a:p>
            <a:r>
              <a:rPr lang="en-US" altLang="ko-KR" dirty="0" smtClean="0"/>
              <a:t>    - </a:t>
            </a:r>
            <a:r>
              <a:rPr lang="ko-KR" altLang="en-US" dirty="0" smtClean="0"/>
              <a:t>한번 </a:t>
            </a:r>
            <a:r>
              <a:rPr lang="en-US" altLang="ko-KR" dirty="0" smtClean="0"/>
              <a:t>trial</a:t>
            </a:r>
            <a:r>
              <a:rPr lang="ko-KR" altLang="en-US" dirty="0" smtClean="0"/>
              <a:t>한 경우</a:t>
            </a:r>
            <a:r>
              <a:rPr lang="en-US" altLang="ko-KR" dirty="0" smtClean="0"/>
              <a:t>, trial</a:t>
            </a:r>
            <a:r>
              <a:rPr lang="ko-KR" altLang="en-US" dirty="0" smtClean="0"/>
              <a:t>없음</a:t>
            </a:r>
            <a:r>
              <a:rPr lang="en-US" altLang="ko-KR" dirty="0" smtClean="0"/>
              <a:t>. (</a:t>
            </a:r>
            <a:r>
              <a:rPr lang="ko-KR" altLang="en-US" dirty="0" smtClean="0"/>
              <a:t>배포전까지는 사이트 만들기는 가능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7544" y="4581128"/>
            <a:ext cx="475252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회원탈퇴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기능없음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5733256"/>
            <a:ext cx="612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고객데이타</a:t>
            </a:r>
            <a:r>
              <a:rPr lang="ko-KR" altLang="en-US" dirty="0" smtClean="0"/>
              <a:t> 사용</a:t>
            </a:r>
            <a:r>
              <a:rPr lang="en-US" altLang="ko-KR" dirty="0" smtClean="0"/>
              <a:t>=&gt; </a:t>
            </a:r>
            <a:r>
              <a:rPr lang="ko-KR" altLang="en-US" dirty="0" smtClean="0"/>
              <a:t>미사용으로 탈퇴처리</a:t>
            </a:r>
            <a:endParaRPr lang="en-US" altLang="ko-KR" dirty="0" smtClean="0"/>
          </a:p>
          <a:p>
            <a:r>
              <a:rPr lang="ko-KR" altLang="en-US" dirty="0" smtClean="0"/>
              <a:t>미사용 정의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데이타난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남겨있고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비활성 처리만 함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900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39552" y="1412776"/>
            <a:ext cx="4572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smtClean="0"/>
              <a:t>-- 해지 예정일 컬럼 추가</a:t>
            </a:r>
          </a:p>
          <a:p>
            <a:r>
              <a:rPr lang="ko-KR" altLang="en-US" sz="800" smtClean="0"/>
              <a:t>ALTER TABLE subscriptions ADD COLUMN cancels_at TIMESTAMP;</a:t>
            </a:r>
          </a:p>
          <a:p>
            <a:endParaRPr lang="ko-KR" altLang="en-US" sz="800" smtClean="0"/>
          </a:p>
          <a:p>
            <a:r>
              <a:rPr lang="ko-KR" altLang="en-US" sz="800" smtClean="0"/>
              <a:t>-- 트리거 수정: cancels_at 없을 때만 즉시 site 상태 변경</a:t>
            </a:r>
          </a:p>
          <a:p>
            <a:r>
              <a:rPr lang="ko-KR" altLang="en-US" sz="800" smtClean="0"/>
              <a:t>CREATE OR REPLACE FUNCTION sync_site_status()</a:t>
            </a:r>
          </a:p>
          <a:p>
            <a:r>
              <a:rPr lang="ko-KR" altLang="en-US" sz="800" smtClean="0"/>
              <a:t>RETURNS TRIGGER AS $$</a:t>
            </a:r>
          </a:p>
          <a:p>
            <a:r>
              <a:rPr lang="ko-KR" altLang="en-US" sz="800" smtClean="0"/>
              <a:t>BEGIN</a:t>
            </a:r>
          </a:p>
          <a:p>
            <a:r>
              <a:rPr lang="ko-KR" altLang="en-US" sz="800" smtClean="0"/>
              <a:t>  IF NEW.status = 'cancelled' AND NEW.cancels_at IS NULL THEN</a:t>
            </a:r>
          </a:p>
          <a:p>
            <a:r>
              <a:rPr lang="ko-KR" altLang="en-US" sz="800" smtClean="0"/>
              <a:t>    -- 즉시 해지 (관리자 강제 해지 등)</a:t>
            </a:r>
          </a:p>
          <a:p>
            <a:r>
              <a:rPr lang="ko-KR" altLang="en-US" sz="800" smtClean="0"/>
              <a:t>    UPDATE sites SET status = 'cancelled' WHERE site_id = NEW.site_id;</a:t>
            </a:r>
          </a:p>
          <a:p>
            <a:r>
              <a:rPr lang="ko-KR" altLang="en-US" sz="800" smtClean="0"/>
              <a:t>  ELSIF NEW.status = 'paused' THEN</a:t>
            </a:r>
          </a:p>
          <a:p>
            <a:r>
              <a:rPr lang="ko-KR" altLang="en-US" sz="800" smtClean="0"/>
              <a:t>    UPDATE sites SET status = 'suspended' WHERE site_id = NEW.site_id;</a:t>
            </a:r>
          </a:p>
          <a:p>
            <a:r>
              <a:rPr lang="ko-KR" altLang="en-US" sz="800" smtClean="0"/>
              <a:t>  ELSIF NEW.status IN ('active', 'trial') THEN</a:t>
            </a:r>
          </a:p>
          <a:p>
            <a:r>
              <a:rPr lang="ko-KR" altLang="en-US" sz="800" smtClean="0"/>
              <a:t>    UPDATE sites SET status = 'published' WHERE site_id = NEW.site_id AND status = 'suspended';</a:t>
            </a:r>
          </a:p>
          <a:p>
            <a:r>
              <a:rPr lang="ko-KR" altLang="en-US" sz="800" smtClean="0"/>
              <a:t>  END IF;</a:t>
            </a:r>
          </a:p>
          <a:p>
            <a:r>
              <a:rPr lang="ko-KR" altLang="en-US" sz="800" smtClean="0"/>
              <a:t>  RETURN NEW;</a:t>
            </a:r>
          </a:p>
          <a:p>
            <a:r>
              <a:rPr lang="ko-KR" altLang="en-US" sz="800" smtClean="0"/>
              <a:t>END;</a:t>
            </a:r>
          </a:p>
          <a:p>
            <a:r>
              <a:rPr lang="ko-KR" altLang="en-US" sz="800" smtClean="0"/>
              <a:t>$$ LANGUAGE plpgsql;</a:t>
            </a:r>
            <a:endParaRPr lang="ko-KR" altLang="en-US" sz="800" dirty="0"/>
          </a:p>
        </p:txBody>
      </p:sp>
      <p:sp>
        <p:nvSpPr>
          <p:cNvPr id="4" name="직사각형 3"/>
          <p:cNvSpPr/>
          <p:nvPr/>
        </p:nvSpPr>
        <p:spPr>
          <a:xfrm>
            <a:off x="395536" y="4046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구현 계획</a:t>
            </a:r>
          </a:p>
          <a:p>
            <a:r>
              <a:rPr lang="en-US" altLang="ko-KR" b="1" dirty="0">
                <a:solidFill>
                  <a:srgbClr val="374151"/>
                </a:solidFill>
                <a:latin typeface="-apple-system"/>
              </a:rPr>
              <a:t>1. DB </a:t>
            </a:r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변경 </a:t>
            </a:r>
            <a:r>
              <a:rPr lang="en-US" altLang="ko-KR" b="1" dirty="0">
                <a:solidFill>
                  <a:srgbClr val="374151"/>
                </a:solidFill>
                <a:latin typeface="-apple-system"/>
              </a:rPr>
              <a:t>(</a:t>
            </a:r>
            <a:r>
              <a:rPr lang="en-US" altLang="ko-KR" b="1" dirty="0" err="1">
                <a:solidFill>
                  <a:srgbClr val="374151"/>
                </a:solidFill>
                <a:latin typeface="-apple-system"/>
              </a:rPr>
              <a:t>Supabase</a:t>
            </a:r>
            <a:r>
              <a:rPr lang="en-US" altLang="ko-KR" b="1" dirty="0">
                <a:solidFill>
                  <a:srgbClr val="374151"/>
                </a:solidFill>
                <a:latin typeface="-apple-system"/>
              </a:rPr>
              <a:t> SQL)</a:t>
            </a:r>
            <a:endParaRPr lang="en-US" altLang="ko-KR" b="1" i="0" dirty="0">
              <a:solidFill>
                <a:srgbClr val="374151"/>
              </a:solidFill>
              <a:effectLst/>
              <a:latin typeface="-apple-system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084168" y="666247"/>
            <a:ext cx="1465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374151"/>
                </a:solidFill>
                <a:latin typeface="-apple-system"/>
              </a:rPr>
              <a:t>2. </a:t>
            </a:r>
            <a:r>
              <a:rPr lang="ko-KR" altLang="en-US" b="1" dirty="0">
                <a:solidFill>
                  <a:srgbClr val="374151"/>
                </a:solidFill>
                <a:latin typeface="-apple-system"/>
              </a:rPr>
              <a:t>상태 흐름</a:t>
            </a:r>
            <a:endParaRPr lang="ko-KR" altLang="en-US" b="1" i="0" dirty="0">
              <a:solidFill>
                <a:srgbClr val="374151"/>
              </a:solidFill>
              <a:effectLst/>
              <a:latin typeface="-apple-system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796136" y="1412776"/>
            <a:ext cx="282555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smtClean="0"/>
              <a:t>[구독 해지 요청]</a:t>
            </a:r>
          </a:p>
          <a:p>
            <a:r>
              <a:rPr lang="ko-KR" altLang="en-US" sz="800" smtClean="0"/>
              <a:t>subscriptions:</a:t>
            </a:r>
          </a:p>
          <a:p>
            <a:r>
              <a:rPr lang="ko-KR" altLang="en-US" sz="800" smtClean="0"/>
              <a:t>  cancelled_at = now()       ← 요청 시점</a:t>
            </a:r>
          </a:p>
          <a:p>
            <a:r>
              <a:rPr lang="ko-KR" altLang="en-US" sz="800" smtClean="0"/>
              <a:t>  cancels_at = next_billing_date  ← 실제 종료일</a:t>
            </a:r>
          </a:p>
          <a:p>
            <a:r>
              <a:rPr lang="ko-KR" altLang="en-US" sz="800" smtClean="0"/>
              <a:t>  status = 'active' 유지     ← 기간 동안 계속 이용</a:t>
            </a:r>
          </a:p>
          <a:p>
            <a:endParaRPr lang="ko-KR" altLang="en-US" sz="800" smtClean="0"/>
          </a:p>
          <a:p>
            <a:r>
              <a:rPr lang="ko-KR" altLang="en-US" sz="800" smtClean="0"/>
              <a:t>[cancels_at 도래 - 관리자 처리]</a:t>
            </a:r>
          </a:p>
          <a:p>
            <a:r>
              <a:rPr lang="ko-KR" altLang="en-US" sz="800" smtClean="0"/>
              <a:t>  status = 'cancelled'</a:t>
            </a:r>
          </a:p>
          <a:p>
            <a:r>
              <a:rPr lang="ko-KR" altLang="en-US" sz="800" smtClean="0"/>
              <a:t>  site.status = 'cancelled'</a:t>
            </a:r>
          </a:p>
          <a:p>
            <a:endParaRPr lang="ko-KR" altLang="en-US" sz="800" smtClean="0"/>
          </a:p>
          <a:p>
            <a:r>
              <a:rPr lang="ko-KR" altLang="en-US" sz="800" smtClean="0"/>
              <a:t>[재구독 - 카드 재등록]</a:t>
            </a:r>
          </a:p>
          <a:p>
            <a:r>
              <a:rPr lang="ko-KR" altLang="en-US" sz="800" smtClean="0"/>
              <a:t>  cancelled_at = null</a:t>
            </a:r>
          </a:p>
          <a:p>
            <a:r>
              <a:rPr lang="ko-KR" altLang="en-US" sz="800" smtClean="0"/>
              <a:t>  cancels_at = null</a:t>
            </a:r>
          </a:p>
          <a:p>
            <a:r>
              <a:rPr lang="ko-KR" altLang="en-US" sz="800" smtClean="0"/>
              <a:t>  status = 'active'</a:t>
            </a:r>
          </a:p>
          <a:p>
            <a:r>
              <a:rPr lang="ko-KR" altLang="en-US" sz="800" smtClean="0"/>
              <a:t>  next_billing_date = 오늘 + 1달</a:t>
            </a:r>
          </a:p>
          <a:p>
            <a:r>
              <a:rPr lang="ko-KR" altLang="en-US" sz="800" smtClean="0"/>
              <a:t>  trial 없음 (trial_started_at 이미 있으므로)</a:t>
            </a:r>
            <a:endParaRPr lang="ko-KR" altLang="en-US" sz="8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917572"/>
            <a:ext cx="3600400" cy="277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7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92696"/>
            <a:ext cx="5219700" cy="46863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885" y="2348880"/>
            <a:ext cx="4184115" cy="272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328737"/>
            <a:ext cx="59055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0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9552" y="620688"/>
            <a:ext cx="295232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구독중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회원탈퇴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940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3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47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4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332656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20260413 </a:t>
            </a:r>
            <a:r>
              <a:rPr lang="ko-KR" altLang="en-US" dirty="0" smtClean="0"/>
              <a:t>구독해지</a:t>
            </a:r>
            <a:r>
              <a:rPr lang="en-US" altLang="ko-KR" dirty="0" smtClean="0"/>
              <a:t>&gt;</a:t>
            </a:r>
            <a:r>
              <a:rPr lang="ko-KR" altLang="en-US" dirty="0" smtClean="0"/>
              <a:t>사이트 사라짐 </a:t>
            </a:r>
            <a:r>
              <a:rPr lang="en-US" altLang="ko-KR" dirty="0" smtClean="0"/>
              <a:t>&gt;  </a:t>
            </a:r>
            <a:r>
              <a:rPr lang="ko-KR" altLang="en-US" dirty="0" smtClean="0"/>
              <a:t>다시 배포 </a:t>
            </a:r>
            <a:r>
              <a:rPr lang="en-US" altLang="ko-KR" dirty="0" smtClean="0"/>
              <a:t>&gt; 14</a:t>
            </a:r>
            <a:r>
              <a:rPr lang="ko-KR" altLang="en-US" dirty="0" smtClean="0"/>
              <a:t>일 무료 배포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32452" y="908720"/>
            <a:ext cx="70758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6B7280"/>
                </a:solidFill>
                <a:latin typeface="Consolas" panose="020B0609020204030204" pitchFamily="49" charset="0"/>
              </a:rPr>
              <a:t>1.</a:t>
            </a:r>
            <a:r>
              <a:rPr lang="ko-KR" altLang="en-US" sz="1400" dirty="0">
                <a:solidFill>
                  <a:srgbClr val="374151"/>
                </a:solidFill>
                <a:latin typeface="Consolas" panose="020B0609020204030204" pitchFamily="49" charset="0"/>
              </a:rPr>
              <a:t> 구독 </a:t>
            </a:r>
            <a:r>
              <a:rPr lang="ko-KR" altLang="en-US" sz="1400" dirty="0" err="1">
                <a:solidFill>
                  <a:srgbClr val="374151"/>
                </a:solidFill>
                <a:latin typeface="Consolas" panose="020B0609020204030204" pitchFamily="49" charset="0"/>
              </a:rPr>
              <a:t>무료체험중</a:t>
            </a:r>
            <a:r>
              <a:rPr lang="ko-KR" altLang="en-US" sz="1400" dirty="0">
                <a:solidFill>
                  <a:srgbClr val="37415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374151"/>
                </a:solidFill>
                <a:latin typeface="Consolas" panose="020B0609020204030204" pitchFamily="49" charset="0"/>
              </a:rPr>
              <a:t>&gt; </a:t>
            </a:r>
            <a:r>
              <a:rPr lang="ko-KR" altLang="en-US" sz="1400" dirty="0">
                <a:solidFill>
                  <a:srgbClr val="374151"/>
                </a:solidFill>
                <a:latin typeface="Consolas" panose="020B0609020204030204" pitchFamily="49" charset="0"/>
              </a:rPr>
              <a:t>사용자가 </a:t>
            </a:r>
            <a:r>
              <a:rPr lang="ko-KR" altLang="en-US" sz="1400" dirty="0" err="1">
                <a:solidFill>
                  <a:srgbClr val="374151"/>
                </a:solidFill>
                <a:latin typeface="Consolas" panose="020B0609020204030204" pitchFamily="49" charset="0"/>
              </a:rPr>
              <a:t>구독해제</a:t>
            </a:r>
            <a:r>
              <a:rPr lang="ko-KR" altLang="en-US" sz="1400" dirty="0">
                <a:solidFill>
                  <a:srgbClr val="37415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374151"/>
                </a:solidFill>
                <a:latin typeface="Consolas" panose="020B0609020204030204" pitchFamily="49" charset="0"/>
              </a:rPr>
              <a:t>&gt; </a:t>
            </a:r>
            <a:r>
              <a:rPr lang="ko-KR" altLang="en-US" sz="1400" dirty="0">
                <a:solidFill>
                  <a:srgbClr val="374151"/>
                </a:solidFill>
                <a:latin typeface="Consolas" panose="020B0609020204030204" pitchFamily="49" charset="0"/>
              </a:rPr>
              <a:t>다시 </a:t>
            </a:r>
            <a:r>
              <a:rPr lang="ko-KR" altLang="en-US" sz="1400" dirty="0" smtClean="0">
                <a:solidFill>
                  <a:srgbClr val="374151"/>
                </a:solidFill>
                <a:latin typeface="Consolas" panose="020B0609020204030204" pitchFamily="49" charset="0"/>
              </a:rPr>
              <a:t>구독</a:t>
            </a:r>
            <a:endParaRPr lang="ko-KR" altLang="en-US" sz="1400" b="0" dirty="0">
              <a:solidFill>
                <a:srgbClr val="37415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7544" y="1556792"/>
            <a:ext cx="439248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가입</a:t>
            </a:r>
            <a:r>
              <a:rPr lang="en-US" altLang="ko-KR" dirty="0" smtClean="0"/>
              <a:t>&gt;</a:t>
            </a:r>
            <a:r>
              <a:rPr lang="ko-KR" altLang="en-US" dirty="0" err="1" smtClean="0"/>
              <a:t>사이트생성</a:t>
            </a:r>
            <a:r>
              <a:rPr lang="en-US" altLang="ko-KR" dirty="0" smtClean="0"/>
              <a:t>&gt;</a:t>
            </a:r>
            <a:r>
              <a:rPr lang="ko-KR" altLang="en-US" dirty="0" smtClean="0"/>
              <a:t>배포 </a:t>
            </a:r>
            <a:r>
              <a:rPr lang="en-US" altLang="ko-KR" dirty="0" smtClean="0"/>
              <a:t>&gt; 14</a:t>
            </a:r>
            <a:r>
              <a:rPr lang="ko-KR" altLang="en-US" dirty="0" smtClean="0"/>
              <a:t>일 </a:t>
            </a:r>
            <a:r>
              <a:rPr lang="ko-KR" altLang="en-US" dirty="0" err="1" smtClean="0"/>
              <a:t>무료시작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724128" y="2137724"/>
            <a:ext cx="180020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카드등록</a:t>
            </a:r>
            <a:r>
              <a:rPr lang="ko-KR" altLang="en-US" dirty="0" smtClean="0"/>
              <a:t> 결제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구독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724128" y="3052158"/>
            <a:ext cx="180020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계좌이체 결제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자동이체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665004" y="5229200"/>
            <a:ext cx="1979003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다음 결제일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배포일 </a:t>
            </a:r>
            <a:r>
              <a:rPr lang="en-US" altLang="ko-KR" dirty="0" smtClean="0"/>
              <a:t>+14+1</a:t>
            </a:r>
            <a:r>
              <a:rPr lang="ko-KR" altLang="en-US" dirty="0" smtClean="0"/>
              <a:t>달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724128" y="3966592"/>
            <a:ext cx="180020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계좌이체 결제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12160" y="142322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//</a:t>
            </a:r>
            <a:r>
              <a:rPr lang="ko-KR" altLang="en-US" dirty="0" smtClean="0"/>
              <a:t>결제</a:t>
            </a:r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3995936" y="4254624"/>
            <a:ext cx="1296144" cy="758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6948264" y="4725144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95936" y="378904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Y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054958" y="479250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156176" y="5229200"/>
            <a:ext cx="1728192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무료</a:t>
            </a:r>
            <a:r>
              <a:rPr lang="en-US" altLang="ko-KR" dirty="0" smtClean="0"/>
              <a:t>14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459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332656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구독해지</a:t>
            </a:r>
            <a:r>
              <a:rPr lang="en-US" altLang="ko-KR" dirty="0" smtClean="0"/>
              <a:t>&gt;</a:t>
            </a:r>
            <a:r>
              <a:rPr lang="ko-KR" altLang="en-US" dirty="0" smtClean="0"/>
              <a:t>사이트 사라짐 </a:t>
            </a:r>
            <a:r>
              <a:rPr lang="en-US" altLang="ko-KR" dirty="0" smtClean="0"/>
              <a:t>&gt;  </a:t>
            </a:r>
            <a:r>
              <a:rPr lang="ko-KR" altLang="en-US" dirty="0" smtClean="0"/>
              <a:t>다시 배포 </a:t>
            </a:r>
            <a:r>
              <a:rPr lang="en-US" altLang="ko-KR" dirty="0" smtClean="0"/>
              <a:t>&gt; 14</a:t>
            </a:r>
            <a:r>
              <a:rPr lang="ko-KR" altLang="en-US" dirty="0" smtClean="0"/>
              <a:t>일 무료 배포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974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899592" y="1484784"/>
            <a:ext cx="93610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랜딩페이지</a:t>
            </a:r>
            <a:endParaRPr lang="ko-KR" altLang="en-US" sz="1000" dirty="0"/>
          </a:p>
        </p:txBody>
      </p:sp>
      <p:sp>
        <p:nvSpPr>
          <p:cNvPr id="4" name="직사각형 3"/>
          <p:cNvSpPr/>
          <p:nvPr/>
        </p:nvSpPr>
        <p:spPr>
          <a:xfrm>
            <a:off x="2051720" y="1484784"/>
            <a:ext cx="11740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고객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로그인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횐원가입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3563888" y="1556792"/>
            <a:ext cx="81400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고객포탈</a:t>
            </a:r>
            <a:endParaRPr lang="ko-KR" alt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3380736" y="2367751"/>
            <a:ext cx="11803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사이트생성</a:t>
            </a:r>
            <a:endParaRPr lang="en-US" altLang="ko-KR" sz="1000" dirty="0" smtClean="0"/>
          </a:p>
          <a:p>
            <a:r>
              <a:rPr lang="ko-KR" altLang="en-US" sz="1000" dirty="0" err="1" smtClean="0"/>
              <a:t>템플릿선택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카페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식당</a:t>
            </a:r>
            <a:r>
              <a:rPr lang="en-US" altLang="ko-KR" sz="1000" dirty="0" smtClean="0"/>
              <a:t>…)</a:t>
            </a:r>
          </a:p>
          <a:p>
            <a:r>
              <a:rPr lang="en-US" altLang="ko-KR" sz="1000" dirty="0" smtClean="0"/>
              <a:t>-----------</a:t>
            </a:r>
          </a:p>
          <a:p>
            <a:r>
              <a:rPr lang="ko-KR" altLang="en-US" sz="1000" dirty="0" err="1" smtClean="0"/>
              <a:t>사이트이동</a:t>
            </a:r>
            <a:endParaRPr lang="en-US" altLang="ko-KR" sz="1000" dirty="0" smtClean="0"/>
          </a:p>
          <a:p>
            <a:r>
              <a:rPr lang="en-US" altLang="ko-KR" sz="1000" dirty="0" smtClean="0"/>
              <a:t>-----------</a:t>
            </a:r>
          </a:p>
          <a:p>
            <a:r>
              <a:rPr lang="ko-KR" altLang="en-US" sz="1000" dirty="0" err="1" smtClean="0"/>
              <a:t>사이트관리</a:t>
            </a:r>
            <a:endParaRPr lang="en-US" altLang="ko-KR" sz="1000" dirty="0" smtClean="0"/>
          </a:p>
          <a:p>
            <a:r>
              <a:rPr lang="ko-KR" altLang="en-US" sz="1000" dirty="0" smtClean="0"/>
              <a:t>기본정보저장</a:t>
            </a:r>
            <a:endParaRPr lang="en-US" altLang="ko-KR" sz="1000" dirty="0" smtClean="0"/>
          </a:p>
          <a:p>
            <a:r>
              <a:rPr lang="ko-KR" altLang="en-US" sz="1000" dirty="0" smtClean="0"/>
              <a:t>사이트 에디터로 편집</a:t>
            </a:r>
            <a:endParaRPr lang="en-US" altLang="ko-KR" sz="1000" dirty="0" smtClean="0"/>
          </a:p>
          <a:p>
            <a:r>
              <a:rPr lang="ko-KR" altLang="en-US" sz="1000" dirty="0" smtClean="0"/>
              <a:t>사이트운영현황</a:t>
            </a:r>
            <a:endParaRPr lang="en-US" altLang="ko-KR" sz="1000" dirty="0" smtClean="0"/>
          </a:p>
          <a:p>
            <a:r>
              <a:rPr lang="ko-KR" altLang="en-US" sz="1000" dirty="0" err="1" smtClean="0"/>
              <a:t>결재연계</a:t>
            </a:r>
            <a:endParaRPr lang="en-US" altLang="ko-KR" sz="1000" dirty="0" smtClean="0"/>
          </a:p>
          <a:p>
            <a:r>
              <a:rPr lang="ko-KR" altLang="en-US" sz="1000" dirty="0" err="1" smtClean="0"/>
              <a:t>수정요청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처리</a:t>
            </a:r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en-US" altLang="ko-KR" sz="1000" dirty="0" smtClean="0"/>
          </a:p>
          <a:p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고객포탈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860032" y="3861048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카드등록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구독설정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4860031" y="3140967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에디터로수정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4860030" y="2528899"/>
            <a:ext cx="814003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템플릿으로 생성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4860030" y="4509745"/>
            <a:ext cx="81400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/>
              <a:t>배포신청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4851703" y="1862825"/>
            <a:ext cx="81400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회원관리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6162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899592" y="1484784"/>
            <a:ext cx="93610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홈페이지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고객사이트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439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88640"/>
            <a:ext cx="2808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Flow </a:t>
            </a:r>
            <a:r>
              <a:rPr lang="ko-KR" altLang="en-US" sz="1000" dirty="0" smtClean="0"/>
              <a:t>중간점검 </a:t>
            </a:r>
            <a:endParaRPr lang="ko-KR" altLang="en-US" sz="1000" dirty="0"/>
          </a:p>
        </p:txBody>
      </p:sp>
      <p:sp>
        <p:nvSpPr>
          <p:cNvPr id="3" name="직사각형 2"/>
          <p:cNvSpPr/>
          <p:nvPr/>
        </p:nvSpPr>
        <p:spPr>
          <a:xfrm>
            <a:off x="606312" y="1564136"/>
            <a:ext cx="1301392" cy="515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플랫폼 </a:t>
            </a:r>
            <a:r>
              <a:rPr lang="ko-KR" altLang="en-US" sz="1000" dirty="0" err="1" smtClean="0"/>
              <a:t>랜딩페이지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9466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07904" y="946612"/>
            <a:ext cx="1944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플랫폼 수정 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r>
              <a:rPr lang="ko-KR" altLang="en-US" sz="1000" dirty="0" err="1" smtClean="0"/>
              <a:t>새사이트</a:t>
            </a:r>
            <a:r>
              <a:rPr lang="ko-KR" altLang="en-US" sz="1000" dirty="0" smtClean="0"/>
              <a:t> 개설 불필요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endParaRPr lang="en-US" altLang="ko-KR" sz="1000" dirty="0"/>
          </a:p>
          <a:p>
            <a:pPr marL="171450" indent="-171450">
              <a:buFontTx/>
              <a:buChar char="-"/>
            </a:pP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4399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196752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//</a:t>
            </a:r>
            <a:r>
              <a:rPr lang="en-US" altLang="ko-KR" sz="1200" dirty="0" err="1" smtClean="0"/>
              <a:t>imweb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539552" y="2060848"/>
            <a:ext cx="1917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https://imweb.me/mysite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3419872" y="2060848"/>
            <a:ext cx="72008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직사각형 4"/>
          <p:cNvSpPr/>
          <p:nvPr/>
        </p:nvSpPr>
        <p:spPr>
          <a:xfrm>
            <a:off x="4427984" y="170080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https://oksusoo133757.imweb.me/admin/?type=page&amp;back_url=aHR0cHM6Ly9va3N1c29vMTMzNzU3Lmltd2ViLm1lL2FkbWlu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11560" y="4941168"/>
            <a:ext cx="2223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3B3B3B"/>
                </a:solidFill>
                <a:latin typeface="Consolas" panose="020B0609020204030204" pitchFamily="49" charset="0"/>
              </a:rPr>
              <a:t>http://localhost:3000/my</a:t>
            </a:r>
            <a:endParaRPr lang="en-US" altLang="ko-KR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3923928" y="5013176"/>
            <a:ext cx="72008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" name="직사각형 7"/>
          <p:cNvSpPr/>
          <p:nvPr/>
        </p:nvSpPr>
        <p:spPr>
          <a:xfrm>
            <a:off x="4828442" y="4941168"/>
            <a:ext cx="29883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3B3B3B"/>
                </a:solidFill>
                <a:latin typeface="Consolas" panose="020B0609020204030204" pitchFamily="49" charset="0"/>
              </a:rPr>
              <a:t>http://localhost:3000/my/testcafe</a:t>
            </a:r>
            <a:endParaRPr lang="en-US" altLang="ko-KR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552" y="4077072"/>
            <a:ext cx="1512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//</a:t>
            </a:r>
            <a:r>
              <a:rPr lang="en-US" altLang="ko-KR" sz="1200" dirty="0" err="1" smtClean="0"/>
              <a:t>myplaform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51520" y="26064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비교점검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32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4464496" cy="312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04664"/>
            <a:ext cx="814997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2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32656"/>
            <a:ext cx="8502905" cy="58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9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60648"/>
            <a:ext cx="7929916" cy="47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3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764704"/>
            <a:ext cx="1598412" cy="36702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764704"/>
            <a:ext cx="1658474" cy="31559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005064"/>
            <a:ext cx="1347986" cy="11277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764704"/>
            <a:ext cx="1285926" cy="21353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942" y="603185"/>
            <a:ext cx="1625981" cy="459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764704"/>
            <a:ext cx="2419350" cy="30384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88640"/>
            <a:ext cx="1916157" cy="527320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548680"/>
            <a:ext cx="1406483" cy="22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6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88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20260331 </a:t>
            </a:r>
            <a:r>
              <a:rPr lang="ko-KR" altLang="en-US" dirty="0" err="1" smtClean="0"/>
              <a:t>에데터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심플버젼으로</a:t>
            </a:r>
            <a:r>
              <a:rPr lang="ko-KR" altLang="en-US" dirty="0" smtClean="0"/>
              <a:t> 기능 추가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4" y="980728"/>
            <a:ext cx="8273410" cy="420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4433764" cy="376778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51520" y="260648"/>
            <a:ext cx="288032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토스개발자</a:t>
            </a:r>
            <a:r>
              <a:rPr lang="ko-KR" altLang="en-US" dirty="0" smtClean="0"/>
              <a:t> 가입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573016"/>
            <a:ext cx="3052401" cy="1706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4426483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</a:t>
            </a:r>
            <a:r>
              <a:rPr lang="en-US" altLang="ko-KR" dirty="0" smtClean="0"/>
              <a:t>cxxxx1!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57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26064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20260326 </a:t>
            </a:r>
            <a:r>
              <a:rPr lang="ko-KR" altLang="en-US" dirty="0" err="1" smtClean="0"/>
              <a:t>고객포털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3528" y="90872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mtClean="0"/>
              <a:t>app/</a:t>
            </a:r>
          </a:p>
          <a:p>
            <a:r>
              <a:rPr lang="ko-KR" altLang="en-US" smtClean="0"/>
              <a:t>  login/</a:t>
            </a:r>
          </a:p>
          <a:p>
            <a:r>
              <a:rPr lang="ko-KR" altLang="en-US" smtClean="0"/>
              <a:t>    page.js  ✅</a:t>
            </a:r>
          </a:p>
          <a:p>
            <a:r>
              <a:rPr lang="ko-KR" altLang="en-US" smtClean="0"/>
              <a:t>  my/</a:t>
            </a:r>
          </a:p>
          <a:p>
            <a:r>
              <a:rPr lang="ko-KR" altLang="en-US" smtClean="0"/>
              <a:t>    page.js  ✅</a:t>
            </a:r>
          </a:p>
          <a:p>
            <a:r>
              <a:rPr lang="ko-KR" altLang="en-US" smtClean="0"/>
              <a:t>    [subdomain]/</a:t>
            </a:r>
          </a:p>
          <a:p>
            <a:r>
              <a:rPr lang="ko-KR" altLang="en-US" smtClean="0"/>
              <a:t>      page.js  ✅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851920" y="908720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/>
              <a:t>--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컬럼 추가</a:t>
            </a:r>
          </a:p>
          <a:p>
            <a:r>
              <a:rPr lang="ko-KR" altLang="en-US" sz="1000" dirty="0"/>
              <a:t>ALTER TABLE </a:t>
            </a:r>
            <a:r>
              <a:rPr lang="ko-KR" altLang="en-US" sz="1000" dirty="0" err="1"/>
              <a:t>customers</a:t>
            </a:r>
            <a:endParaRPr lang="ko-KR" altLang="en-US" sz="1000" dirty="0"/>
          </a:p>
          <a:p>
            <a:r>
              <a:rPr lang="ko-KR" altLang="en-US" sz="1000" dirty="0"/>
              <a:t>ADD COLUMN IF NOT EXISTS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UUID REFERENCES </a:t>
            </a:r>
            <a:r>
              <a:rPr lang="ko-KR" altLang="en-US" sz="1000" dirty="0" err="1"/>
              <a:t>auth.users</a:t>
            </a:r>
            <a:r>
              <a:rPr lang="ko-KR" altLang="en-US" sz="1000" dirty="0"/>
              <a:t>(</a:t>
            </a:r>
            <a:r>
              <a:rPr lang="ko-KR" altLang="en-US" sz="1000" dirty="0" err="1"/>
              <a:t>id</a:t>
            </a:r>
            <a:r>
              <a:rPr lang="ko-KR" altLang="en-US" sz="1000" dirty="0"/>
              <a:t>);</a:t>
            </a:r>
          </a:p>
          <a:p>
            <a:endParaRPr lang="ko-KR" altLang="en-US" sz="1000" dirty="0"/>
          </a:p>
          <a:p>
            <a:r>
              <a:rPr lang="ko-KR" altLang="en-US" sz="1000" dirty="0"/>
              <a:t>-- wonse@hos.com 연결</a:t>
            </a:r>
          </a:p>
          <a:p>
            <a:r>
              <a:rPr lang="ko-KR" altLang="en-US" sz="1000" dirty="0"/>
              <a:t>UPDATE </a:t>
            </a:r>
            <a:r>
              <a:rPr lang="ko-KR" altLang="en-US" sz="1000" dirty="0" err="1"/>
              <a:t>customers</a:t>
            </a:r>
            <a:endParaRPr lang="ko-KR" altLang="en-US" sz="1000" dirty="0"/>
          </a:p>
          <a:p>
            <a:r>
              <a:rPr lang="ko-KR" altLang="en-US" sz="1000" dirty="0"/>
              <a:t>SET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= (</a:t>
            </a:r>
          </a:p>
          <a:p>
            <a:r>
              <a:rPr lang="ko-KR" altLang="en-US" sz="1000" dirty="0"/>
              <a:t>  SELECT </a:t>
            </a:r>
            <a:r>
              <a:rPr lang="ko-KR" altLang="en-US" sz="1000" dirty="0" err="1"/>
              <a:t>id</a:t>
            </a:r>
            <a:r>
              <a:rPr lang="ko-KR" altLang="en-US" sz="1000" dirty="0"/>
              <a:t> FROM </a:t>
            </a:r>
            <a:r>
              <a:rPr lang="ko-KR" altLang="en-US" sz="1000" dirty="0" err="1"/>
              <a:t>auth.users</a:t>
            </a:r>
            <a:r>
              <a:rPr lang="ko-KR" altLang="en-US" sz="1000" dirty="0"/>
              <a:t> WHERE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 = '</a:t>
            </a:r>
            <a:r>
              <a:rPr lang="ko-KR" altLang="en-US" sz="1000" dirty="0" err="1"/>
              <a:t>wonse@hos.com</a:t>
            </a:r>
            <a:r>
              <a:rPr lang="ko-KR" altLang="en-US" sz="1000" dirty="0"/>
              <a:t>'</a:t>
            </a:r>
          </a:p>
          <a:p>
            <a:r>
              <a:rPr lang="ko-KR" altLang="en-US" sz="1000" dirty="0"/>
              <a:t>)</a:t>
            </a:r>
          </a:p>
          <a:p>
            <a:r>
              <a:rPr lang="ko-KR" altLang="en-US" sz="1000" dirty="0"/>
              <a:t>WHERE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 = '</a:t>
            </a:r>
            <a:r>
              <a:rPr lang="ko-KR" altLang="en-US" sz="1000" dirty="0" err="1"/>
              <a:t>wonse@hos.com</a:t>
            </a:r>
            <a:r>
              <a:rPr lang="ko-KR" altLang="en-US" sz="1000" dirty="0"/>
              <a:t>';</a:t>
            </a:r>
          </a:p>
          <a:p>
            <a:endParaRPr lang="ko-KR" altLang="en-US" sz="1000" dirty="0"/>
          </a:p>
          <a:p>
            <a:r>
              <a:rPr lang="ko-KR" altLang="en-US" sz="1000" dirty="0"/>
              <a:t>-- 확인</a:t>
            </a:r>
          </a:p>
          <a:p>
            <a:r>
              <a:rPr lang="ko-KR" altLang="en-US" sz="1000" dirty="0"/>
              <a:t>SELECT </a:t>
            </a:r>
            <a:r>
              <a:rPr lang="ko-KR" altLang="en-US" sz="1000" dirty="0" err="1"/>
              <a:t>customer_id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name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email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auth_id</a:t>
            </a:r>
            <a:r>
              <a:rPr lang="ko-KR" altLang="en-US" sz="1000" dirty="0"/>
              <a:t> FROM </a:t>
            </a:r>
            <a:r>
              <a:rPr lang="ko-KR" altLang="en-US" sz="1000" dirty="0" err="1"/>
              <a:t>customers</a:t>
            </a:r>
            <a:r>
              <a:rPr lang="ko-KR" altLang="en-US" sz="1000" dirty="0"/>
              <a:t>;</a:t>
            </a:r>
          </a:p>
          <a:p>
            <a:r>
              <a:rPr lang="ko-KR" altLang="en-US" sz="1000" dirty="0"/>
              <a:t>```</a:t>
            </a:r>
          </a:p>
          <a:p>
            <a:endParaRPr lang="ko-KR" altLang="en-US" sz="1000" dirty="0"/>
          </a:p>
          <a:p>
            <a:r>
              <a:rPr lang="ko-KR" altLang="en-US" sz="1000" dirty="0"/>
              <a:t>**STEP 2. 테스트:**</a:t>
            </a:r>
          </a:p>
          <a:p>
            <a:r>
              <a:rPr lang="ko-KR" altLang="en-US" sz="1000" dirty="0"/>
              <a:t>```</a:t>
            </a:r>
          </a:p>
          <a:p>
            <a:r>
              <a:rPr lang="ko-KR" altLang="en-US" sz="1000" dirty="0"/>
              <a:t>localhost:3000/</a:t>
            </a:r>
            <a:r>
              <a:rPr lang="ko-KR" altLang="en-US" sz="1000" dirty="0" err="1"/>
              <a:t>login</a:t>
            </a:r>
            <a:endParaRPr lang="ko-KR" altLang="en-US" sz="1000" dirty="0"/>
          </a:p>
          <a:p>
            <a:r>
              <a:rPr lang="ko-KR" altLang="en-US" sz="1000" dirty="0"/>
              <a:t>  → wonse@hos.com / test123</a:t>
            </a:r>
          </a:p>
          <a:p>
            <a:r>
              <a:rPr lang="ko-KR" altLang="en-US" sz="1000" dirty="0"/>
              <a:t>  → 로그인 성공 시 /</a:t>
            </a:r>
            <a:r>
              <a:rPr lang="ko-KR" altLang="en-US" sz="1000" dirty="0" err="1"/>
              <a:t>my</a:t>
            </a:r>
            <a:r>
              <a:rPr lang="ko-KR" altLang="en-US" sz="1000" dirty="0"/>
              <a:t> 이동</a:t>
            </a:r>
          </a:p>
          <a:p>
            <a:r>
              <a:rPr lang="ko-KR" altLang="en-US" sz="1000" dirty="0"/>
              <a:t>  → 사이트 목록 확인</a:t>
            </a:r>
          </a:p>
          <a:p>
            <a:r>
              <a:rPr lang="ko-KR" altLang="en-US" sz="1000" dirty="0"/>
              <a:t>  → 사이트 클릭 → /</a:t>
            </a:r>
            <a:r>
              <a:rPr lang="ko-KR" altLang="en-US" sz="1000" dirty="0" err="1"/>
              <a:t>my</a:t>
            </a:r>
            <a:r>
              <a:rPr lang="ko-KR" altLang="en-US" sz="1000" dirty="0"/>
              <a:t>/</a:t>
            </a:r>
            <a:r>
              <a:rPr lang="ko-KR" altLang="en-US" sz="1000" dirty="0" err="1"/>
              <a:t>testcafe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605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088" y="3573016"/>
            <a:ext cx="4856981" cy="25985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627059"/>
            <a:ext cx="2666467" cy="41952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04664"/>
            <a:ext cx="6419925" cy="6673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1196752"/>
            <a:ext cx="1499545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0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96" y="692696"/>
            <a:ext cx="2589909" cy="25599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3" y="3501008"/>
            <a:ext cx="740181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0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283402" cy="543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2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1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8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166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20260325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5536" y="620688"/>
            <a:ext cx="324036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아임웹</a:t>
            </a:r>
            <a:r>
              <a:rPr lang="ko-KR" altLang="en-US" dirty="0" smtClean="0"/>
              <a:t> 프로세스 분석</a:t>
            </a:r>
            <a:endParaRPr lang="en-US" altLang="ko-KR" dirty="0" smtClean="0"/>
          </a:p>
          <a:p>
            <a:pPr algn="ctr"/>
            <a:r>
              <a:rPr lang="en-US" altLang="ko-KR" dirty="0">
                <a:hlinkClick r:id="rId2"/>
              </a:rPr>
              <a:t>https://imweb.me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2" y="1916832"/>
            <a:ext cx="5261323" cy="349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5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3568" y="548680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55576" y="4653136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무료로 시작하기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88639"/>
            <a:ext cx="1512168" cy="258226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770902"/>
            <a:ext cx="3873662" cy="318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3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52736"/>
            <a:ext cx="4806511" cy="19745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4005064"/>
            <a:ext cx="5544616" cy="16678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576" y="33265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웹사이트개설하기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625" y="2040030"/>
            <a:ext cx="2306191" cy="299195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084169" y="3212976"/>
            <a:ext cx="576063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1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823912"/>
            <a:ext cx="79438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5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260648"/>
            <a:ext cx="23762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유료가입후</a:t>
            </a:r>
            <a:r>
              <a:rPr lang="ko-KR" altLang="en-US" dirty="0" smtClean="0"/>
              <a:t> 로그인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7"/>
            <a:ext cx="4248472" cy="22471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181129"/>
            <a:ext cx="4284068" cy="244011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3528" y="3515944"/>
            <a:ext cx="1800200" cy="633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템플릿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5157192"/>
            <a:ext cx="3723159" cy="106688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012160" y="3933056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웹사이트개설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473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12776"/>
            <a:ext cx="6408712" cy="305378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39552" y="476672"/>
            <a:ext cx="180020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내사이트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64288" y="270892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템플릿변경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사이트관리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448" y="3930045"/>
            <a:ext cx="5057948" cy="292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2"/>
            <a:ext cx="6640030" cy="509597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51520" y="188640"/>
            <a:ext cx="273630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사이트관리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156176" y="3068960"/>
            <a:ext cx="735374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59632" y="1628800"/>
            <a:ext cx="432048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9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67544" y="548680"/>
            <a:ext cx="43204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디자인모드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템플릿 내용 수정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0" y="1268760"/>
            <a:ext cx="832935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9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80200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9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764704"/>
            <a:ext cx="5709566" cy="43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6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8608231" cy="425165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88507" y="548680"/>
            <a:ext cx="4389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STEP 1. </a:t>
            </a:r>
            <a:r>
              <a:rPr lang="en-US" altLang="ko-KR" dirty="0" err="1"/>
              <a:t>Supabase</a:t>
            </a:r>
            <a:r>
              <a:rPr lang="ko-KR" altLang="en-US" dirty="0"/>
              <a:t>에서 테스트 유저 생성</a:t>
            </a:r>
            <a:r>
              <a:rPr lang="en-US" altLang="ko-KR" dirty="0"/>
              <a:t>: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2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16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26064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20260324 </a:t>
            </a:r>
            <a:r>
              <a:rPr lang="ko-KR" altLang="en-US" dirty="0" smtClean="0"/>
              <a:t>설계변경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203848" y="1701302"/>
            <a:ext cx="20882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플렛폼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99792" y="981222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웹사이트 개발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배포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도메인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유지관리 간편 </a:t>
            </a:r>
            <a:r>
              <a:rPr lang="ko-KR" altLang="en-US" dirty="0" err="1" smtClean="0"/>
              <a:t>플렛폼</a:t>
            </a:r>
            <a:r>
              <a:rPr lang="ko-KR" altLang="en-US" dirty="0" smtClean="0"/>
              <a:t> 개발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9758" y="3021276"/>
            <a:ext cx="172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고객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플랫폼가입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2555776" y="2995705"/>
            <a:ext cx="3528392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1. </a:t>
            </a:r>
            <a:r>
              <a:rPr lang="ko-KR" altLang="en-US" dirty="0" err="1" smtClean="0"/>
              <a:t>플렛폼</a:t>
            </a:r>
            <a:r>
              <a:rPr lang="ko-KR" altLang="en-US" dirty="0" smtClean="0"/>
              <a:t> 가이드 직원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고객사이트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대리개발</a:t>
            </a:r>
            <a:r>
              <a:rPr lang="ko-KR" altLang="en-US" dirty="0" smtClean="0"/>
              <a:t> 및 배포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555776" y="4725144"/>
            <a:ext cx="3528392" cy="1656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2. </a:t>
            </a:r>
            <a:r>
              <a:rPr lang="ko-KR" altLang="en-US" dirty="0" smtClean="0"/>
              <a:t>고객이 직접 템플릿 활용해서 사이트 개발 및 배포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732240" y="4221582"/>
            <a:ext cx="1656184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프랫폼이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사이트운영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90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692696"/>
            <a:ext cx="7632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고객은 플랫폼 </a:t>
            </a:r>
            <a:r>
              <a:rPr lang="ko-KR" altLang="en-US" dirty="0" err="1" smtClean="0"/>
              <a:t>가입후</a:t>
            </a:r>
            <a:r>
              <a:rPr lang="ko-KR" altLang="en-US" dirty="0" smtClean="0"/>
              <a:t> 사이트 개발을 자유롭게 가능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사이트 </a:t>
            </a:r>
            <a:r>
              <a:rPr lang="ko-KR" altLang="en-US" dirty="0" err="1" smtClean="0"/>
              <a:t>개발시</a:t>
            </a:r>
            <a:r>
              <a:rPr lang="ko-KR" altLang="en-US" dirty="0"/>
              <a:t> </a:t>
            </a:r>
            <a:r>
              <a:rPr lang="ko-KR" altLang="en-US" dirty="0" smtClean="0"/>
              <a:t>사용어려움이 있으면 본사 </a:t>
            </a:r>
            <a:r>
              <a:rPr lang="ko-KR" altLang="en-US" dirty="0" err="1" smtClean="0"/>
              <a:t>개발의뢰</a:t>
            </a:r>
            <a:r>
              <a:rPr lang="ko-KR" altLang="en-US" dirty="0" smtClean="0"/>
              <a:t> 가능 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고객은 플랫폼 </a:t>
            </a:r>
            <a:r>
              <a:rPr lang="ko-KR" altLang="en-US" dirty="0" err="1" smtClean="0"/>
              <a:t>가입후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개발후</a:t>
            </a:r>
            <a:r>
              <a:rPr lang="ko-KR" altLang="en-US" dirty="0" smtClean="0"/>
              <a:t> 배포 및 도메인연결후 카드 </a:t>
            </a:r>
            <a:r>
              <a:rPr lang="ko-KR" altLang="en-US" dirty="0" err="1" smtClean="0"/>
              <a:t>등록후</a:t>
            </a:r>
            <a:r>
              <a:rPr lang="ko-KR" altLang="en-US" dirty="0" smtClean="0"/>
              <a:t> 월 </a:t>
            </a:r>
            <a:r>
              <a:rPr lang="en-US" altLang="ko-KR" dirty="0" smtClean="0"/>
              <a:t>3</a:t>
            </a:r>
            <a:r>
              <a:rPr lang="ko-KR" altLang="en-US" dirty="0" smtClean="0"/>
              <a:t>만원의 서비스 유지 비용을 자동이체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플랫폼에서 </a:t>
            </a:r>
            <a:r>
              <a:rPr lang="ko-KR" altLang="en-US" dirty="0" err="1" smtClean="0"/>
              <a:t>고객또는</a:t>
            </a:r>
            <a:r>
              <a:rPr lang="ko-KR" altLang="en-US" dirty="0" smtClean="0"/>
              <a:t> 본사 직원이 템플릿을 </a:t>
            </a:r>
            <a:r>
              <a:rPr lang="ko-KR" altLang="en-US" dirty="0" err="1" smtClean="0"/>
              <a:t>활용서</a:t>
            </a:r>
            <a:r>
              <a:rPr lang="ko-KR" altLang="en-US" dirty="0" smtClean="0"/>
              <a:t> 자유롭게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098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55318"/>
            <a:ext cx="5616624" cy="640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3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7780115" cy="51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496944" cy="43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6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4744"/>
            <a:ext cx="8825658" cy="45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6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7355677" cy="55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03848" y="2564904"/>
            <a:ext cx="28083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46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5544616" cy="2796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62068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사이트개설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50" y="4221088"/>
            <a:ext cx="8114631" cy="24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3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8864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 사이트 접속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51520" y="69269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**STEP 3. </a:t>
            </a:r>
            <a:r>
              <a:rPr lang="ko-KR" altLang="en-US" dirty="0"/>
              <a:t>고객 사이트 접속**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preview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[subdomain]</a:t>
            </a:r>
          </a:p>
          <a:p>
            <a:r>
              <a:rPr lang="en-US" altLang="ko-KR" dirty="0" smtClean="0"/>
              <a:t>localhost:</a:t>
            </a:r>
            <a:r>
              <a:rPr lang="en-US" altLang="ko-KR" dirty="0" smtClean="0">
                <a:solidFill>
                  <a:srgbClr val="008080"/>
                </a:solidFill>
              </a:rPr>
              <a:t>3000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preview</a:t>
            </a:r>
            <a:r>
              <a:rPr lang="en-US" altLang="ko-KR" dirty="0" smtClean="0">
                <a:solidFill>
                  <a:srgbClr val="14181F"/>
                </a:solidFill>
              </a:rPr>
              <a:t>/</a:t>
            </a:r>
            <a:r>
              <a:rPr lang="en-US" altLang="ko-KR" dirty="0" smtClean="0"/>
              <a:t>won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75" y="1750750"/>
            <a:ext cx="8129486" cy="44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3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26064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**STEP 4. </a:t>
            </a:r>
            <a:r>
              <a:rPr lang="ko-KR" altLang="en-US" dirty="0"/>
              <a:t>게시판 글쓰기**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 smtClean="0"/>
              <a:t>localhost:3000/preview/[subdomain]/board/write</a:t>
            </a:r>
          </a:p>
          <a:p>
            <a:r>
              <a:rPr lang="en-US" altLang="ko-KR" dirty="0" smtClean="0"/>
              <a:t>localhost:3000/preview/won/board/write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3731635" cy="26642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437112"/>
            <a:ext cx="4921127" cy="210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7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92696"/>
            <a:ext cx="7252965" cy="40875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11663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73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**STEP 5. </a:t>
            </a:r>
            <a:r>
              <a:rPr lang="ko-KR" altLang="en-US" dirty="0"/>
              <a:t>문의 접수**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/>
              <a:t>localhost:3000/preview/</a:t>
            </a:r>
            <a:r>
              <a:rPr lang="en-US" altLang="ko-KR" dirty="0" err="1"/>
              <a:t>testcafe</a:t>
            </a:r>
            <a:r>
              <a:rPr lang="en-US" altLang="ko-KR" dirty="0"/>
              <a:t>/contact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7840"/>
            <a:ext cx="5859300" cy="444825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326844" y="692696"/>
            <a:ext cx="2493628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고객 홈페이지 에서 </a:t>
            </a:r>
            <a:r>
              <a:rPr lang="ko-KR" altLang="en-US" sz="1200" dirty="0" err="1" smtClean="0"/>
              <a:t>수정요청</a:t>
            </a:r>
            <a:r>
              <a:rPr lang="en-US" altLang="ko-KR" sz="1200" dirty="0" smtClean="0"/>
              <a:t>? </a:t>
            </a:r>
          </a:p>
          <a:p>
            <a:pPr algn="ctr"/>
            <a:r>
              <a:rPr lang="ko-KR" altLang="en-US" sz="1200" dirty="0" smtClean="0"/>
              <a:t>이상한데</a:t>
            </a:r>
            <a:r>
              <a:rPr lang="en-US" altLang="ko-KR" sz="1200" dirty="0" smtClean="0"/>
              <a:t>?</a:t>
            </a:r>
          </a:p>
          <a:p>
            <a:pPr algn="ctr"/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플랫폼에 와서 </a:t>
            </a:r>
            <a:r>
              <a:rPr lang="ko-KR" altLang="en-US" sz="1200" dirty="0" err="1" smtClean="0"/>
              <a:t>내사이트의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문의접수를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해야맞지</a:t>
            </a:r>
            <a:r>
              <a:rPr lang="en-US" altLang="ko-KR" sz="1200" dirty="0" smtClean="0"/>
              <a:t>!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2996952"/>
            <a:ext cx="5337072" cy="34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4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88840"/>
            <a:ext cx="8203641" cy="44150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404664"/>
            <a:ext cx="5976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6. </a:t>
            </a:r>
            <a:r>
              <a:rPr lang="ko-KR" altLang="en-US" dirty="0"/>
              <a:t>관리자 콘솔에서 티켓 처리** </a:t>
            </a:r>
            <a:r>
              <a:rPr lang="en-US" altLang="ko-KR" dirty="0"/>
              <a:t>```</a:t>
            </a:r>
            <a:r>
              <a:rPr lang="ko-KR" altLang="en-US" dirty="0"/>
              <a:t> </a:t>
            </a:r>
            <a:r>
              <a:rPr lang="en-US" altLang="ko-KR" dirty="0"/>
              <a:t>localhost:3000/platform → "</a:t>
            </a:r>
            <a:r>
              <a:rPr lang="ko-KR" altLang="en-US" dirty="0"/>
              <a:t>수정 요청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ko-KR" altLang="en-US" dirty="0" smtClean="0"/>
              <a:t>탭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방금 </a:t>
            </a:r>
            <a:r>
              <a:rPr lang="ko-KR" altLang="en-US" dirty="0"/>
              <a:t>접수된 티켓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"</a:t>
            </a:r>
            <a:r>
              <a:rPr lang="ko-KR" altLang="en-US" dirty="0" err="1"/>
              <a:t>처리시작</a:t>
            </a:r>
            <a:r>
              <a:rPr lang="en-US" altLang="ko-KR" dirty="0"/>
              <a:t>"</a:t>
            </a:r>
            <a:r>
              <a:rPr lang="ko-KR" altLang="en-US" dirty="0"/>
              <a:t> 버튼 클릭 → </a:t>
            </a:r>
            <a:r>
              <a:rPr lang="en-US" altLang="ko-KR" dirty="0" err="1"/>
              <a:t>in_progress</a:t>
            </a:r>
            <a:r>
              <a:rPr lang="en-US" altLang="ko-KR" dirty="0"/>
              <a:t> </a:t>
            </a:r>
            <a:r>
              <a:rPr lang="ko-KR" altLang="en-US" dirty="0"/>
              <a:t>상태 변경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"</a:t>
            </a:r>
            <a:r>
              <a:rPr lang="ko-KR" altLang="en-US" dirty="0"/>
              <a:t>완료</a:t>
            </a:r>
            <a:r>
              <a:rPr lang="en-US" altLang="ko-KR" dirty="0"/>
              <a:t>"</a:t>
            </a:r>
            <a:r>
              <a:rPr lang="ko-KR" altLang="en-US" dirty="0"/>
              <a:t> 버튼 클릭 → </a:t>
            </a:r>
            <a:r>
              <a:rPr lang="en-US" altLang="ko-KR" dirty="0"/>
              <a:t>resolved </a:t>
            </a:r>
            <a:r>
              <a:rPr lang="ko-KR" altLang="en-US" dirty="0"/>
              <a:t>상태 변경 확인</a:t>
            </a:r>
          </a:p>
        </p:txBody>
      </p:sp>
    </p:spTree>
    <p:extLst>
      <p:ext uri="{BB962C8B-B14F-4D97-AF65-F5344CB8AC3E}">
        <p14:creationId xmlns:p14="http://schemas.microsoft.com/office/powerpoint/2010/main" val="64766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95536" y="188640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7. </a:t>
            </a:r>
            <a:r>
              <a:rPr lang="ko-KR" altLang="en-US" dirty="0"/>
              <a:t>구독 납부 확인**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platform →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구독 현황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탭 </a:t>
            </a:r>
            <a:r>
              <a:rPr lang="en-US" altLang="ko-KR" dirty="0">
                <a:solidFill>
                  <a:srgbClr val="008080"/>
                </a:solidFill>
              </a:rPr>
              <a:t>1.</a:t>
            </a:r>
            <a:r>
              <a:rPr lang="ko-KR" altLang="en-US" dirty="0"/>
              <a:t> </a:t>
            </a:r>
            <a:r>
              <a:rPr lang="en-US" altLang="ko-KR" dirty="0" err="1"/>
              <a:t>testcafe</a:t>
            </a:r>
            <a:r>
              <a:rPr lang="en-US" altLang="ko-KR" dirty="0"/>
              <a:t> </a:t>
            </a:r>
            <a:r>
              <a:rPr lang="ko-KR" altLang="en-US" dirty="0"/>
              <a:t>구독 확인 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008080"/>
                </a:solidFill>
              </a:rPr>
              <a:t>2</a:t>
            </a:r>
            <a:r>
              <a:rPr lang="en-US" altLang="ko-KR" dirty="0">
                <a:solidFill>
                  <a:srgbClr val="008080"/>
                </a:solidFill>
              </a:rPr>
              <a:t>.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납부 확인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버튼 클릭 → </a:t>
            </a:r>
            <a:r>
              <a:rPr lang="en-US" altLang="ko-KR" dirty="0" err="1"/>
              <a:t>Supabase</a:t>
            </a:r>
            <a:r>
              <a:rPr lang="en-US" altLang="ko-KR" dirty="0"/>
              <a:t> </a:t>
            </a:r>
            <a:r>
              <a:rPr lang="en-US" altLang="ko-KR" dirty="0" err="1"/>
              <a:t>billing_history</a:t>
            </a:r>
            <a:r>
              <a:rPr lang="en-US" altLang="ko-KR" dirty="0"/>
              <a:t> </a:t>
            </a:r>
            <a:r>
              <a:rPr lang="ko-KR" altLang="en-US" dirty="0"/>
              <a:t>테이블에 기록됐는지 확인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9" y="1309617"/>
            <a:ext cx="6233615" cy="31478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99592" y="5301208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납부 확인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버튼 </a:t>
            </a:r>
            <a:r>
              <a:rPr lang="ko-KR" altLang="en-US" dirty="0" err="1" smtClean="0">
                <a:solidFill>
                  <a:schemeClr val="tx1"/>
                </a:solidFill>
              </a:rPr>
              <a:t>반응없음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95536" y="4694656"/>
            <a:ext cx="340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100C2"/>
                </a:solidFill>
              </a:rPr>
              <a:t>SELECT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14181F"/>
                </a:solidFill>
              </a:rPr>
              <a:t>*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8100C2"/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billing_history</a:t>
            </a:r>
            <a:r>
              <a:rPr lang="en-US" altLang="ko-KR" dirty="0">
                <a:solidFill>
                  <a:srgbClr val="2B303B"/>
                </a:solidFill>
              </a:rPr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96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791024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332656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**</a:t>
            </a:r>
            <a:r>
              <a:rPr lang="en-US" altLang="ko-KR" dirty="0"/>
              <a:t>STEP 8. </a:t>
            </a:r>
            <a:r>
              <a:rPr lang="ko-KR" altLang="en-US" dirty="0"/>
              <a:t>사이트 배포** </a:t>
            </a:r>
            <a:r>
              <a:rPr lang="en-US" altLang="ko-KR" dirty="0"/>
              <a:t>``</a:t>
            </a:r>
            <a:r>
              <a:rPr lang="en-US" altLang="ko-KR" dirty="0">
                <a:solidFill>
                  <a:srgbClr val="2B303B"/>
                </a:solidFill>
              </a:rPr>
              <a:t>`</a:t>
            </a:r>
            <a:r>
              <a:rPr lang="ko-KR" altLang="en-US" dirty="0"/>
              <a:t> </a:t>
            </a:r>
            <a:r>
              <a:rPr lang="en-US" altLang="ko-KR" dirty="0"/>
              <a:t>localhost:</a:t>
            </a:r>
            <a:r>
              <a:rPr lang="en-US" altLang="ko-KR" dirty="0">
                <a:solidFill>
                  <a:srgbClr val="008080"/>
                </a:solidFill>
              </a:rPr>
              <a:t>3000</a:t>
            </a:r>
            <a:r>
              <a:rPr lang="en-US" altLang="ko-KR" dirty="0">
                <a:solidFill>
                  <a:srgbClr val="14181F"/>
                </a:solidFill>
              </a:rPr>
              <a:t>/</a:t>
            </a:r>
            <a:r>
              <a:rPr lang="en-US" altLang="ko-KR" dirty="0"/>
              <a:t>platform → 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사이트 관리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탭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testcafe</a:t>
            </a:r>
            <a:r>
              <a:rPr lang="en-US" altLang="ko-KR" dirty="0" smtClean="0"/>
              <a:t> </a:t>
            </a:r>
            <a:r>
              <a:rPr lang="ko-KR" altLang="en-US" dirty="0"/>
              <a:t>사이트 상태 </a:t>
            </a:r>
            <a:r>
              <a:rPr lang="en-US" altLang="ko-KR" dirty="0">
                <a:solidFill>
                  <a:srgbClr val="008000"/>
                </a:solidFill>
              </a:rPr>
              <a:t>"draft"</a:t>
            </a:r>
            <a:r>
              <a:rPr lang="ko-KR" altLang="en-US" dirty="0"/>
              <a:t> 확인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>
                <a:solidFill>
                  <a:srgbClr val="008000"/>
                </a:solidFill>
              </a:rPr>
              <a:t>"</a:t>
            </a:r>
            <a:r>
              <a:rPr lang="ko-KR" altLang="en-US" dirty="0">
                <a:solidFill>
                  <a:srgbClr val="008000"/>
                </a:solidFill>
              </a:rPr>
              <a:t>배포</a:t>
            </a:r>
            <a:r>
              <a:rPr lang="en-US" altLang="ko-KR" dirty="0">
                <a:solidFill>
                  <a:srgbClr val="008000"/>
                </a:solidFill>
              </a:rPr>
              <a:t>"</a:t>
            </a:r>
            <a:r>
              <a:rPr lang="ko-KR" altLang="en-US" dirty="0"/>
              <a:t> 버튼 클릭 → 상태 </a:t>
            </a:r>
            <a:r>
              <a:rPr lang="en-US" altLang="ko-KR" dirty="0">
                <a:solidFill>
                  <a:srgbClr val="008000"/>
                </a:solidFill>
              </a:rPr>
              <a:t>"published"</a:t>
            </a:r>
            <a:r>
              <a:rPr lang="ko-KR" altLang="en-US" dirty="0"/>
              <a:t>로 변경 확인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88840"/>
            <a:ext cx="8305973" cy="127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1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8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80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87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2026-03-18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5328592" cy="48891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727685"/>
            <a:ext cx="5418290" cy="8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4976291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5204911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1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48680"/>
            <a:ext cx="6840760" cy="59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9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32656"/>
            <a:ext cx="5829805" cy="11659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8" y="1916832"/>
            <a:ext cx="4298052" cy="39322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135" y="1817763"/>
            <a:ext cx="3482642" cy="41303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12" y="2708920"/>
            <a:ext cx="3482642" cy="26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36712"/>
            <a:ext cx="4648603" cy="598221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528" y="188640"/>
            <a:ext cx="72008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결론 </a:t>
            </a:r>
            <a:r>
              <a:rPr lang="en-US" altLang="ko-KR" dirty="0"/>
              <a:t>: "</a:t>
            </a:r>
            <a:r>
              <a:rPr lang="ko-KR" altLang="en-US" dirty="0" err="1"/>
              <a:t>판매자는</a:t>
            </a:r>
            <a:r>
              <a:rPr lang="ko-KR" altLang="en-US" dirty="0"/>
              <a:t> 수익 파트너</a:t>
            </a:r>
            <a:r>
              <a:rPr lang="en-US" altLang="ko-KR" dirty="0"/>
              <a:t>, </a:t>
            </a:r>
            <a:r>
              <a:rPr lang="ko-KR" altLang="en-US" dirty="0"/>
              <a:t>플랫폼은 인프라 </a:t>
            </a:r>
            <a:r>
              <a:rPr lang="en-US" altLang="ko-KR" dirty="0"/>
              <a:t>+ </a:t>
            </a:r>
            <a:r>
              <a:rPr lang="ko-KR" altLang="en-US" dirty="0"/>
              <a:t>안전망</a:t>
            </a:r>
            <a:r>
              <a:rPr lang="en-US" altLang="ko-KR" dirty="0"/>
              <a:t>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59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7399383" cy="38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5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88640"/>
            <a:ext cx="6728018" cy="423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0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0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74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928322" cy="3093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683568" y="2060848"/>
            <a:ext cx="252028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Pw:</a:t>
            </a:r>
            <a:r>
              <a:rPr lang="ko-KR" altLang="en-US" dirty="0" smtClean="0"/>
              <a:t>안녕하세요</a:t>
            </a:r>
            <a:endParaRPr lang="en-US" altLang="ko-KR" dirty="0" smtClean="0"/>
          </a:p>
          <a:p>
            <a:pPr algn="ctr"/>
            <a:r>
              <a:rPr lang="en-US" altLang="ko-KR" dirty="0" err="1" smtClean="0"/>
              <a:t>dkssudgktpdy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26064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2026-03-17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96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1124744"/>
            <a:ext cx="799949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hlinkClick r:id="rId2"/>
              </a:rPr>
              <a:t>https://pavvmktfbkpdtaayvplf.supabase.co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sb_publishable_Cu1YqzXXPGHQQZKbFMLPxg_WsM4G3C5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postgresql://postgres:[YOUR-PASSWORD]@db.pavvmktfbkpdtaayvplf.supabase.co:5432/postgres</a:t>
            </a:r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3141464" cy="3106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83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336550"/>
            <a:ext cx="5988050" cy="618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96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7241</TotalTime>
  <Words>1177</Words>
  <Application>Microsoft Office PowerPoint</Application>
  <PresentationFormat>화면 슬라이드 쇼(4:3)</PresentationFormat>
  <Paragraphs>259</Paragraphs>
  <Slides>100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8" baseType="lpstr">
      <vt:lpstr>-apple-system</vt:lpstr>
      <vt:lpstr>Arial Unicode MS</vt:lpstr>
      <vt:lpstr>var(--app-monospace-font-family)</vt:lpstr>
      <vt:lpstr>맑은 고딕</vt:lpstr>
      <vt:lpstr>Arial</vt:lpstr>
      <vt:lpstr>Consolas</vt:lpstr>
      <vt:lpstr>Wingdings</vt:lpstr>
      <vt:lpstr>Office 테마</vt:lpstr>
      <vt:lpstr>My-plaform 기획1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My-plaform</dc:title>
  <dc:creator>SeungHyeon Nam</dc:creator>
  <cp:lastModifiedBy>SeungHyeon Nam</cp:lastModifiedBy>
  <cp:revision>73</cp:revision>
  <dcterms:created xsi:type="dcterms:W3CDTF">2026-03-17T12:34:00Z</dcterms:created>
  <dcterms:modified xsi:type="dcterms:W3CDTF">2026-08-27T13:07:52Z</dcterms:modified>
</cp:coreProperties>
</file>