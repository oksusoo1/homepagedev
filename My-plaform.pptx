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1" r:id="rId3"/>
    <p:sldId id="330" r:id="rId4"/>
    <p:sldId id="331" r:id="rId5"/>
    <p:sldId id="332" r:id="rId6"/>
    <p:sldId id="333" r:id="rId7"/>
    <p:sldId id="335" r:id="rId8"/>
    <p:sldId id="336" r:id="rId9"/>
    <p:sldId id="334" r:id="rId10"/>
    <p:sldId id="337" r:id="rId11"/>
    <p:sldId id="338" r:id="rId12"/>
    <p:sldId id="339" r:id="rId13"/>
    <p:sldId id="340" r:id="rId14"/>
    <p:sldId id="325" r:id="rId15"/>
    <p:sldId id="326" r:id="rId16"/>
    <p:sldId id="327" r:id="rId17"/>
    <p:sldId id="328" r:id="rId18"/>
    <p:sldId id="329" r:id="rId19"/>
    <p:sldId id="314" r:id="rId20"/>
    <p:sldId id="319" r:id="rId21"/>
    <p:sldId id="318" r:id="rId22"/>
    <p:sldId id="315" r:id="rId23"/>
    <p:sldId id="316" r:id="rId24"/>
    <p:sldId id="320" r:id="rId25"/>
    <p:sldId id="321" r:id="rId26"/>
    <p:sldId id="322" r:id="rId27"/>
    <p:sldId id="317" r:id="rId28"/>
    <p:sldId id="323" r:id="rId29"/>
    <p:sldId id="324" r:id="rId30"/>
    <p:sldId id="313" r:id="rId31"/>
    <p:sldId id="312" r:id="rId32"/>
    <p:sldId id="305" r:id="rId33"/>
    <p:sldId id="310" r:id="rId34"/>
    <p:sldId id="306" r:id="rId35"/>
    <p:sldId id="307" r:id="rId36"/>
    <p:sldId id="308" r:id="rId37"/>
    <p:sldId id="309" r:id="rId38"/>
    <p:sldId id="291" r:id="rId39"/>
    <p:sldId id="292" r:id="rId40"/>
    <p:sldId id="293" r:id="rId41"/>
    <p:sldId id="300" r:id="rId42"/>
    <p:sldId id="294" r:id="rId43"/>
    <p:sldId id="296" r:id="rId44"/>
    <p:sldId id="297" r:id="rId45"/>
    <p:sldId id="298" r:id="rId46"/>
    <p:sldId id="295" r:id="rId47"/>
    <p:sldId id="299" r:id="rId48"/>
    <p:sldId id="301" r:id="rId49"/>
    <p:sldId id="302" r:id="rId50"/>
    <p:sldId id="303" r:id="rId51"/>
    <p:sldId id="304" r:id="rId52"/>
    <p:sldId id="271" r:id="rId53"/>
    <p:sldId id="272" r:id="rId54"/>
    <p:sldId id="274" r:id="rId55"/>
    <p:sldId id="276" r:id="rId56"/>
    <p:sldId id="275" r:id="rId57"/>
    <p:sldId id="273" r:id="rId58"/>
    <p:sldId id="277" r:id="rId59"/>
    <p:sldId id="278" r:id="rId60"/>
    <p:sldId id="279" r:id="rId61"/>
    <p:sldId id="280" r:id="rId62"/>
    <p:sldId id="281" r:id="rId63"/>
    <p:sldId id="282" r:id="rId64"/>
    <p:sldId id="283" r:id="rId65"/>
    <p:sldId id="284" r:id="rId66"/>
    <p:sldId id="286" r:id="rId67"/>
    <p:sldId id="285" r:id="rId68"/>
    <p:sldId id="287" r:id="rId69"/>
    <p:sldId id="288" r:id="rId70"/>
    <p:sldId id="289" r:id="rId71"/>
    <p:sldId id="290" r:id="rId72"/>
    <p:sldId id="260" r:id="rId73"/>
    <p:sldId id="261" r:id="rId74"/>
    <p:sldId id="262" r:id="rId75"/>
    <p:sldId id="263" r:id="rId76"/>
    <p:sldId id="264" r:id="rId77"/>
    <p:sldId id="265" r:id="rId78"/>
    <p:sldId id="268" r:id="rId79"/>
    <p:sldId id="269" r:id="rId80"/>
    <p:sldId id="266" r:id="rId81"/>
    <p:sldId id="267" r:id="rId82"/>
    <p:sldId id="259" r:id="rId83"/>
    <p:sldId id="257" r:id="rId84"/>
    <p:sldId id="258" r:id="rId85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1474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2026-04-13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hyperlink" Target="vscode-webview://0lldeta24lk8kce1b4e28hffuana45u5a5oo97f6759a0vfn3mqn/my-platform/app/api/payment/billing-auth/route.js" TargetMode="External"/><Relationship Id="rId4" Type="http://schemas.openxmlformats.org/officeDocument/2006/relationships/hyperlink" Target="vscode-webview://0lldeta24lk8kce1b4e28hffuana45u5a5oo97f6759a0vfn3mqn/my-platform/lib/deploy.js#L17-L18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imweb.me/" TargetMode="Externa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hyperlink" Target="https://pavvmktfbkpdtaayvplf.supabase.co/" TargetMode="Externa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340768"/>
            <a:ext cx="8716863" cy="4385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6619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548680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구독해지</a:t>
            </a:r>
            <a:r>
              <a:rPr lang="en-US" altLang="ko-KR" dirty="0" smtClean="0"/>
              <a:t>, </a:t>
            </a:r>
            <a:r>
              <a:rPr lang="ko-KR" altLang="en-US" dirty="0" smtClean="0"/>
              <a:t>배포 기능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62802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188640"/>
            <a:ext cx="698477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 smtClean="0"/>
              <a:t>개발검증</a:t>
            </a:r>
            <a:r>
              <a:rPr lang="en-US" altLang="ko-KR" sz="1000" dirty="0" smtClean="0"/>
              <a:t>)</a:t>
            </a:r>
          </a:p>
          <a:p>
            <a:r>
              <a:rPr lang="ko-KR" altLang="en-US" sz="1000" dirty="0" err="1" smtClean="0"/>
              <a:t>테스트카페</a:t>
            </a:r>
            <a:r>
              <a:rPr lang="ko-KR" altLang="en-US" sz="1000" dirty="0" smtClean="0"/>
              <a:t> 배포하고 임의로 </a:t>
            </a:r>
            <a:r>
              <a:rPr lang="ko-KR" altLang="en-US" sz="1000" dirty="0" err="1" smtClean="0"/>
              <a:t>카드등록했는데</a:t>
            </a:r>
            <a:r>
              <a:rPr lang="ko-KR" altLang="en-US" sz="1000" dirty="0" smtClean="0"/>
              <a:t> 왜 </a:t>
            </a:r>
            <a:r>
              <a:rPr lang="ko-KR" altLang="en-US" sz="1000" dirty="0" err="1" smtClean="0"/>
              <a:t>결제내역이</a:t>
            </a:r>
            <a:r>
              <a:rPr lang="ko-KR" altLang="en-US" sz="1000" dirty="0" smtClean="0"/>
              <a:t>  아무것도 없지</a:t>
            </a:r>
            <a:r>
              <a:rPr lang="en-US" altLang="ko-KR" sz="1000" dirty="0" smtClean="0"/>
              <a:t>? </a:t>
            </a:r>
            <a:r>
              <a:rPr lang="ko-KR" altLang="en-US" sz="1000" dirty="0" smtClean="0"/>
              <a:t>그리고 왜 다음결제일이 </a:t>
            </a:r>
            <a:r>
              <a:rPr lang="en-US" altLang="ko-KR" sz="1000" dirty="0" smtClean="0"/>
              <a:t>2026.5.1</a:t>
            </a:r>
            <a:r>
              <a:rPr lang="ko-KR" altLang="en-US" sz="1000" dirty="0" smtClean="0"/>
              <a:t>일이야</a:t>
            </a:r>
            <a:r>
              <a:rPr lang="en-US" altLang="ko-KR" sz="1000" dirty="0" smtClean="0"/>
              <a:t>? </a:t>
            </a:r>
            <a:r>
              <a:rPr lang="ko-KR" altLang="en-US" sz="1000" dirty="0" err="1" smtClean="0"/>
              <a:t>첫달은</a:t>
            </a:r>
            <a:r>
              <a:rPr lang="ko-KR" altLang="en-US" sz="1000" dirty="0" smtClean="0"/>
              <a:t> </a:t>
            </a:r>
            <a:r>
              <a:rPr lang="ko-KR" altLang="en-US" sz="1000" dirty="0"/>
              <a:t>무료체험기간이 있으니 </a:t>
            </a:r>
            <a:r>
              <a:rPr lang="ko-KR" altLang="en-US" sz="1000" dirty="0" smtClean="0"/>
              <a:t> </a:t>
            </a:r>
            <a:r>
              <a:rPr lang="ko-KR" altLang="en-US" sz="1000" dirty="0" err="1" smtClean="0"/>
              <a:t>배포한일자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+14</a:t>
            </a:r>
            <a:r>
              <a:rPr lang="ko-KR" altLang="en-US" sz="1000" dirty="0" smtClean="0"/>
              <a:t>일 </a:t>
            </a:r>
            <a:r>
              <a:rPr lang="en-US" altLang="ko-KR" sz="1000" dirty="0" smtClean="0"/>
              <a:t>+ 1</a:t>
            </a:r>
            <a:r>
              <a:rPr lang="ko-KR" altLang="en-US" sz="1000" dirty="0" smtClean="0"/>
              <a:t>달 날이 다음결제일아녀</a:t>
            </a:r>
            <a:r>
              <a:rPr lang="en-US" altLang="ko-KR" sz="1000" dirty="0" smtClean="0"/>
              <a:t>? </a:t>
            </a:r>
            <a:r>
              <a:rPr lang="ko-KR" altLang="en-US" sz="1000" dirty="0" smtClean="0"/>
              <a:t>그리고 다음달부터는 다음달의 날짜가 </a:t>
            </a:r>
            <a:r>
              <a:rPr lang="ko-KR" altLang="en-US" sz="1000" dirty="0" err="1" smtClean="0"/>
              <a:t>다음결제일이고</a:t>
            </a:r>
            <a:r>
              <a:rPr lang="en-US" altLang="ko-KR" sz="1000" dirty="0" smtClean="0"/>
              <a:t>…</a:t>
            </a:r>
            <a:endParaRPr lang="ko-KR" altLang="en-US" sz="10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844824"/>
            <a:ext cx="5472608" cy="452346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1042" y="818168"/>
            <a:ext cx="4259635" cy="102665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3419872" y="2420888"/>
            <a:ext cx="5456943" cy="1323439"/>
          </a:xfrm>
          <a:prstGeom prst="rect">
            <a:avLst/>
          </a:prstGeom>
          <a:solidFill>
            <a:srgbClr val="FFFBF5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수정 내용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1. 다음 결제일 계산 버그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4"/>
              </a:rPr>
              <a:t>lib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4"/>
              </a:rPr>
              <a:t>/deploy.js:17-18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AS-IS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: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nextBilling.setDate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(1)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다음달 </a:t>
            </a: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1일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로 강제 고정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TO-BE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: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setDate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(1)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제거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+ 1달 날짜 그대로 유지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예: 4/13 배포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체험종료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4/27 →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다음결제일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 </a:t>
            </a: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5/27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rgbClr val="374151"/>
              </a:solidFill>
              <a:effectLst/>
              <a:ea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2. 결제 내역 자동 생성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app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api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payment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billing-auth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  <a:hlinkClick r:id="rId5"/>
              </a:rPr>
              <a:t>/route.js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카드 등록 시 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billing_history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에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다음 결제 예정 레코드(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status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: 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unpaid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latin typeface="Arial Unicode MS"/>
                <a:ea typeface="var(--app-monospace-font-family)"/>
              </a:rPr>
              <a:t>'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) 자동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insert</a:t>
            </a:r>
            <a:endParaRPr kumimoji="0" lang="ko-KR" altLang="ko-KR" sz="800" b="0" i="0" u="none" strike="noStrike" cap="none" normalizeH="0" baseline="0" dirty="0" smtClean="0">
              <a:ln>
                <a:noFill/>
              </a:ln>
              <a:solidFill>
                <a:srgbClr val="374151"/>
              </a:solidFill>
              <a:effectLst/>
              <a:ea typeface="-apple-system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이미 해당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period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rgbClr val="374151"/>
                </a:solidFill>
                <a:effectLst/>
                <a:ea typeface="-apple-system"/>
              </a:rPr>
              <a:t> 레코드가 있으면 중복 생성 안 함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참고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: 체험 기간 중 카드 등록이므로 결제 내역에는 "다음달 이용료 - 미납"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으로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표시됩니다. 실제 결제가 이루어지면 </a:t>
            </a:r>
            <a:endParaRPr kumimoji="0" lang="en-US" altLang="ko-KR" sz="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paid_at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과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status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: 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ea typeface="var(--app-monospace-font-family)"/>
              </a:rPr>
              <a:t>paid'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업데이트하는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로직은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</a:rPr>
              <a:t>실결제</a:t>
            </a:r>
            <a:r>
              <a:rPr kumimoji="0" lang="ko-KR" altLang="ko-KR" sz="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</a:rPr>
              <a:t> 연동 시 추가하면 됩니다.</a:t>
            </a:r>
          </a:p>
        </p:txBody>
      </p:sp>
    </p:spTree>
    <p:extLst>
      <p:ext uri="{BB962C8B-B14F-4D97-AF65-F5344CB8AC3E}">
        <p14:creationId xmlns:p14="http://schemas.microsoft.com/office/powerpoint/2010/main" val="23248462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340768"/>
            <a:ext cx="38164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 </a:t>
            </a:r>
            <a:r>
              <a:rPr lang="en-US" altLang="ko-KR" dirty="0" smtClean="0"/>
              <a:t>: 14</a:t>
            </a:r>
            <a:r>
              <a:rPr lang="ko-KR" altLang="en-US" dirty="0" smtClean="0"/>
              <a:t>일 무료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구독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,</a:t>
            </a:r>
          </a:p>
          <a:p>
            <a:r>
              <a:rPr lang="en-US" altLang="ko-KR" dirty="0" smtClean="0"/>
              <a:t> (</a:t>
            </a:r>
            <a:r>
              <a:rPr lang="ko-KR" altLang="en-US" dirty="0" smtClean="0"/>
              <a:t>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계좌이체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자동이체 등록</a:t>
            </a:r>
            <a:r>
              <a:rPr lang="en-US" altLang="ko-KR" dirty="0" smtClean="0"/>
              <a:t>: </a:t>
            </a:r>
            <a:r>
              <a:rPr lang="ko-KR" altLang="en-US" dirty="0" smtClean="0"/>
              <a:t>어려우면 다음에 구현</a:t>
            </a:r>
            <a:r>
              <a:rPr lang="en-US" altLang="ko-KR" dirty="0" smtClean="0"/>
              <a:t>))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4932040" y="1268760"/>
            <a:ext cx="37933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카드 미리 등록하면 </a:t>
            </a:r>
            <a:r>
              <a:rPr lang="ko-KR" altLang="en-US" dirty="0" err="1"/>
              <a:t>등록한날로</a:t>
            </a:r>
            <a:r>
              <a:rPr lang="ko-KR" altLang="en-US" dirty="0"/>
              <a:t> 자동 청구되지만 </a:t>
            </a:r>
            <a:r>
              <a:rPr lang="en-US" altLang="ko-KR" dirty="0"/>
              <a:t>, </a:t>
            </a:r>
            <a:r>
              <a:rPr lang="ko-KR" altLang="en-US" dirty="0"/>
              <a:t>다음결재일을 </a:t>
            </a:r>
            <a:r>
              <a:rPr lang="en-US" altLang="ko-KR" dirty="0"/>
              <a:t>trial </a:t>
            </a:r>
            <a:r>
              <a:rPr lang="ko-KR" altLang="en-US" dirty="0"/>
              <a:t>일자를 더해서 계산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67544" y="764704"/>
            <a:ext cx="282000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현재 </a:t>
            </a:r>
            <a:r>
              <a:rPr lang="ko-KR" altLang="en-US" b="1" dirty="0" err="1">
                <a:solidFill>
                  <a:srgbClr val="374151"/>
                </a:solidFill>
                <a:latin typeface="-apple-system"/>
              </a:rPr>
              <a:t>로직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 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vs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원하는 </a:t>
            </a:r>
            <a:r>
              <a:rPr lang="ko-KR" altLang="en-US" b="1" dirty="0" err="1">
                <a:solidFill>
                  <a:srgbClr val="374151"/>
                </a:solidFill>
                <a:latin typeface="-apple-system"/>
              </a:rPr>
              <a:t>로직</a:t>
            </a:r>
            <a:endParaRPr lang="ko-KR" altLang="en-US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2564904"/>
            <a:ext cx="4704962" cy="4091271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467544" y="153308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결재로직</a:t>
            </a:r>
            <a:r>
              <a:rPr lang="ko-KR" altLang="en-US" dirty="0" smtClean="0"/>
              <a:t> </a:t>
            </a:r>
            <a:r>
              <a:rPr lang="en-US" altLang="ko-KR" dirty="0" smtClean="0"/>
              <a:t>::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결재됨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341905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467544" y="153308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로직</a:t>
            </a:r>
            <a:r>
              <a:rPr lang="ko-KR" altLang="en-US" dirty="0" smtClean="0"/>
              <a:t> </a:t>
            </a:r>
            <a:r>
              <a:rPr lang="en-US" altLang="ko-KR" dirty="0" smtClean="0"/>
              <a:t>::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카드등록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결재</a:t>
            </a:r>
            <a:r>
              <a:rPr lang="en-US" altLang="ko-KR" dirty="0" smtClean="0"/>
              <a:t>/</a:t>
            </a:r>
            <a:r>
              <a:rPr lang="ko-KR" altLang="en-US" dirty="0" err="1" smtClean="0"/>
              <a:t>구독됨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err="1" smtClean="0"/>
              <a:t>구독취소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67544" y="692696"/>
            <a:ext cx="5904656" cy="4046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로직 </a:t>
            </a:r>
            <a:r>
              <a:rPr lang="en-US" altLang="ko-KR" smtClean="0"/>
              <a:t>:: </a:t>
            </a:r>
            <a:r>
              <a:rPr lang="ko-KR" altLang="en-US" smtClean="0"/>
              <a:t>배포 </a:t>
            </a:r>
            <a:r>
              <a:rPr lang="en-US" altLang="ko-KR" smtClean="0"/>
              <a:t>&gt; trial </a:t>
            </a:r>
            <a:r>
              <a:rPr lang="ko-KR" altLang="en-US" smtClean="0"/>
              <a:t>기간 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467544" y="1641574"/>
            <a:ext cx="5544616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Tx/>
              <a:buAutoNum type="arabicPeriod"/>
            </a:pPr>
            <a:r>
              <a:rPr lang="ko-KR" altLang="en-US" dirty="0" smtClean="0"/>
              <a:t>구독 </a:t>
            </a:r>
            <a:r>
              <a:rPr lang="ko-KR" altLang="en-US" dirty="0"/>
              <a:t>해지 </a:t>
            </a:r>
            <a:r>
              <a:rPr lang="ko-KR" altLang="en-US" dirty="0" smtClean="0"/>
              <a:t>시</a:t>
            </a:r>
            <a:endParaRPr lang="en-US" altLang="ko-KR" dirty="0" smtClean="0"/>
          </a:p>
          <a:p>
            <a:r>
              <a:rPr lang="en-US" altLang="ko-KR" dirty="0"/>
              <a:t> </a:t>
            </a:r>
            <a:r>
              <a:rPr lang="en-US" altLang="ko-KR" dirty="0" smtClean="0"/>
              <a:t>-  </a:t>
            </a:r>
            <a:r>
              <a:rPr lang="en-US" altLang="ko-KR" dirty="0"/>
              <a:t>"</a:t>
            </a:r>
            <a:r>
              <a:rPr lang="ko-KR" altLang="en-US" dirty="0"/>
              <a:t>즉시 종료인가</a:t>
            </a:r>
            <a:r>
              <a:rPr lang="en-US" altLang="ko-KR" dirty="0"/>
              <a:t>, </a:t>
            </a:r>
            <a:r>
              <a:rPr lang="ko-KR" altLang="en-US" dirty="0"/>
              <a:t>기간 보장인가</a:t>
            </a:r>
            <a:r>
              <a:rPr lang="en-US" altLang="ko-KR" dirty="0" smtClean="0"/>
              <a:t>?“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ko-KR" altLang="en-US" dirty="0"/>
              <a:t>잔여 기간 </a:t>
            </a:r>
            <a:r>
              <a:rPr lang="ko-KR" altLang="en-US" dirty="0" smtClean="0"/>
              <a:t>보장</a:t>
            </a:r>
            <a:r>
              <a:rPr lang="en-US" altLang="ko-KR" dirty="0" smtClean="0"/>
              <a:t>, 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- </a:t>
            </a:r>
            <a:r>
              <a:rPr lang="ko-KR" altLang="en-US" dirty="0" smtClean="0"/>
              <a:t>데이터는</a:t>
            </a:r>
            <a:r>
              <a:rPr lang="en-US" altLang="ko-KR" dirty="0" smtClean="0"/>
              <a:t>? </a:t>
            </a:r>
            <a:r>
              <a:rPr lang="en-US" altLang="ko-KR" dirty="0" smtClean="0">
                <a:sym typeface="Wingdings" panose="05000000000000000000" pitchFamily="2" charset="2"/>
              </a:rPr>
              <a:t> 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재구독을</a:t>
            </a:r>
            <a:r>
              <a:rPr lang="ko-KR" altLang="en-US" dirty="0" smtClean="0"/>
              <a:t> 대비해서 보관</a:t>
            </a:r>
            <a:r>
              <a:rPr lang="en-US" altLang="ko-KR" dirty="0" smtClean="0"/>
              <a:t>, </a:t>
            </a:r>
            <a:r>
              <a:rPr lang="ko-KR" altLang="en-US" dirty="0" smtClean="0"/>
              <a:t>사이트만 비활성화</a:t>
            </a:r>
            <a:endParaRPr lang="en-US" altLang="ko-KR" dirty="0" smtClean="0"/>
          </a:p>
          <a:p>
            <a:pPr marL="342900" indent="-342900">
              <a:buFontTx/>
              <a:buAutoNum type="arabicPeriod"/>
            </a:pPr>
            <a:endParaRPr lang="en-US" altLang="ko-KR" dirty="0"/>
          </a:p>
          <a:p>
            <a:pPr marL="342900" indent="-342900">
              <a:buFontTx/>
              <a:buAutoNum type="arabicPeriod"/>
            </a:pPr>
            <a:r>
              <a:rPr lang="en-US" altLang="ko-KR" dirty="0" smtClean="0"/>
              <a:t>Trial</a:t>
            </a:r>
            <a:r>
              <a:rPr lang="en-US" altLang="ko-KR" dirty="0"/>
              <a:t>(</a:t>
            </a:r>
            <a:r>
              <a:rPr lang="ko-KR" altLang="en-US" dirty="0" err="1"/>
              <a:t>체험판</a:t>
            </a:r>
            <a:r>
              <a:rPr lang="en-US" altLang="ko-KR" dirty="0"/>
              <a:t>) </a:t>
            </a:r>
            <a:r>
              <a:rPr lang="ko-KR" altLang="en-US" dirty="0"/>
              <a:t>정책</a:t>
            </a:r>
            <a:r>
              <a:rPr lang="en-US" altLang="ko-KR" dirty="0"/>
              <a:t>: "</a:t>
            </a:r>
            <a:r>
              <a:rPr lang="ko-KR" altLang="en-US" dirty="0" err="1"/>
              <a:t>어뷰징</a:t>
            </a:r>
            <a:r>
              <a:rPr lang="en-US" altLang="ko-KR" dirty="0"/>
              <a:t>(Abuse) </a:t>
            </a:r>
            <a:r>
              <a:rPr lang="ko-KR" altLang="en-US" dirty="0" smtClean="0"/>
              <a:t>방지</a:t>
            </a:r>
            <a:r>
              <a:rPr lang="en-US" altLang="ko-KR" dirty="0" smtClean="0"/>
              <a:t>“</a:t>
            </a:r>
          </a:p>
          <a:p>
            <a:r>
              <a:rPr lang="en-US" altLang="ko-KR" dirty="0" smtClean="0"/>
              <a:t>    - </a:t>
            </a:r>
            <a:r>
              <a:rPr lang="ko-KR" altLang="en-US" dirty="0" smtClean="0"/>
              <a:t>한번 </a:t>
            </a:r>
            <a:r>
              <a:rPr lang="en-US" altLang="ko-KR" dirty="0" smtClean="0"/>
              <a:t>trial</a:t>
            </a:r>
            <a:r>
              <a:rPr lang="ko-KR" altLang="en-US" dirty="0" smtClean="0"/>
              <a:t>한 경우</a:t>
            </a:r>
            <a:r>
              <a:rPr lang="en-US" altLang="ko-KR" dirty="0" smtClean="0"/>
              <a:t>, trial</a:t>
            </a:r>
            <a:r>
              <a:rPr lang="ko-KR" altLang="en-US" dirty="0" smtClean="0"/>
              <a:t>없음</a:t>
            </a:r>
            <a:r>
              <a:rPr lang="en-US" altLang="ko-KR" dirty="0" smtClean="0"/>
              <a:t>. (</a:t>
            </a:r>
            <a:r>
              <a:rPr lang="ko-KR" altLang="en-US" dirty="0" smtClean="0"/>
              <a:t>배포전까지는 사이트 만들기는 가능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467544" y="4581128"/>
            <a:ext cx="4752528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회원탈퇴 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기능없음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539552" y="5733256"/>
            <a:ext cx="61206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고객데이타</a:t>
            </a:r>
            <a:r>
              <a:rPr lang="ko-KR" altLang="en-US" dirty="0" smtClean="0"/>
              <a:t> 사용</a:t>
            </a:r>
            <a:r>
              <a:rPr lang="en-US" altLang="ko-KR" dirty="0" smtClean="0"/>
              <a:t>=&gt; </a:t>
            </a:r>
            <a:r>
              <a:rPr lang="ko-KR" altLang="en-US" dirty="0" smtClean="0"/>
              <a:t>미사용으로 탈퇴처리</a:t>
            </a:r>
            <a:endParaRPr lang="en-US" altLang="ko-KR" dirty="0" smtClean="0"/>
          </a:p>
          <a:p>
            <a:r>
              <a:rPr lang="ko-KR" altLang="en-US" dirty="0" smtClean="0"/>
              <a:t>미사용 정의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데이타난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남겨있고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비활성 처리만 함</a:t>
            </a:r>
            <a:r>
              <a:rPr lang="en-US" altLang="ko-KR" dirty="0" smtClean="0"/>
              <a:t>.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29008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539552" y="1412776"/>
            <a:ext cx="4572000" cy="243143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800" smtClean="0"/>
              <a:t>-- 해지 예정일 컬럼 추가</a:t>
            </a:r>
          </a:p>
          <a:p>
            <a:r>
              <a:rPr lang="ko-KR" altLang="en-US" sz="800" smtClean="0"/>
              <a:t>ALTER TABLE subscriptions ADD COLUMN cancels_at TIMESTAMP;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-- 트리거 수정: cancels_at 없을 때만 즉시 site 상태 변경</a:t>
            </a:r>
          </a:p>
          <a:p>
            <a:r>
              <a:rPr lang="ko-KR" altLang="en-US" sz="800" smtClean="0"/>
              <a:t>CREATE OR REPLACE FUNCTION sync_site_status()</a:t>
            </a:r>
          </a:p>
          <a:p>
            <a:r>
              <a:rPr lang="ko-KR" altLang="en-US" sz="800" smtClean="0"/>
              <a:t>RETURNS TRIGGER AS $$</a:t>
            </a:r>
          </a:p>
          <a:p>
            <a:r>
              <a:rPr lang="ko-KR" altLang="en-US" sz="800" smtClean="0"/>
              <a:t>BEGIN</a:t>
            </a:r>
          </a:p>
          <a:p>
            <a:r>
              <a:rPr lang="ko-KR" altLang="en-US" sz="800" smtClean="0"/>
              <a:t>  IF NEW.status = 'cancelled' AND NEW.cancels_at IS NULL THEN</a:t>
            </a:r>
          </a:p>
          <a:p>
            <a:r>
              <a:rPr lang="ko-KR" altLang="en-US" sz="800" smtClean="0"/>
              <a:t>    -- 즉시 해지 (관리자 강제 해지 등)</a:t>
            </a:r>
          </a:p>
          <a:p>
            <a:r>
              <a:rPr lang="ko-KR" altLang="en-US" sz="800" smtClean="0"/>
              <a:t>    UPDATE sites SET status = 'cancelled' WHERE site_id = NEW.site_id;</a:t>
            </a:r>
          </a:p>
          <a:p>
            <a:r>
              <a:rPr lang="ko-KR" altLang="en-US" sz="800" smtClean="0"/>
              <a:t>  ELSIF NEW.status = 'paused' THEN</a:t>
            </a:r>
          </a:p>
          <a:p>
            <a:r>
              <a:rPr lang="ko-KR" altLang="en-US" sz="800" smtClean="0"/>
              <a:t>    UPDATE sites SET status = 'suspended' WHERE site_id = NEW.site_id;</a:t>
            </a:r>
          </a:p>
          <a:p>
            <a:r>
              <a:rPr lang="ko-KR" altLang="en-US" sz="800" smtClean="0"/>
              <a:t>  ELSIF NEW.status IN ('active', 'trial') THEN</a:t>
            </a:r>
          </a:p>
          <a:p>
            <a:r>
              <a:rPr lang="ko-KR" altLang="en-US" sz="800" smtClean="0"/>
              <a:t>    UPDATE sites SET status = 'published' WHERE site_id = NEW.site_id AND status = 'suspended';</a:t>
            </a:r>
          </a:p>
          <a:p>
            <a:r>
              <a:rPr lang="ko-KR" altLang="en-US" sz="800" smtClean="0"/>
              <a:t>  END IF;</a:t>
            </a:r>
          </a:p>
          <a:p>
            <a:r>
              <a:rPr lang="ko-KR" altLang="en-US" sz="800" smtClean="0"/>
              <a:t>  RETURN NEW;</a:t>
            </a:r>
          </a:p>
          <a:p>
            <a:r>
              <a:rPr lang="ko-KR" altLang="en-US" sz="800" smtClean="0"/>
              <a:t>END;</a:t>
            </a:r>
          </a:p>
          <a:p>
            <a:r>
              <a:rPr lang="ko-KR" altLang="en-US" sz="800" smtClean="0"/>
              <a:t>$$ LANGUAGE plpgsql;</a:t>
            </a:r>
            <a:endParaRPr lang="ko-KR" altLang="en-US" sz="800" dirty="0"/>
          </a:p>
        </p:txBody>
      </p:sp>
      <p:sp>
        <p:nvSpPr>
          <p:cNvPr id="4" name="직사각형 3"/>
          <p:cNvSpPr/>
          <p:nvPr/>
        </p:nvSpPr>
        <p:spPr>
          <a:xfrm>
            <a:off x="395536" y="404664"/>
            <a:ext cx="4572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구현 계획</a:t>
            </a:r>
          </a:p>
          <a:p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1. DB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변경 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(</a:t>
            </a:r>
            <a:r>
              <a:rPr lang="en-US" altLang="ko-KR" b="1" dirty="0" err="1">
                <a:solidFill>
                  <a:srgbClr val="374151"/>
                </a:solidFill>
                <a:latin typeface="-apple-system"/>
              </a:rPr>
              <a:t>Supabase</a:t>
            </a:r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 SQL)</a:t>
            </a:r>
            <a:endParaRPr lang="en-US" altLang="ko-KR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6084168" y="666247"/>
            <a:ext cx="146546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b="1" dirty="0">
                <a:solidFill>
                  <a:srgbClr val="374151"/>
                </a:solidFill>
                <a:latin typeface="-apple-system"/>
              </a:rPr>
              <a:t>2. </a:t>
            </a:r>
            <a:r>
              <a:rPr lang="ko-KR" altLang="en-US" b="1" dirty="0">
                <a:solidFill>
                  <a:srgbClr val="374151"/>
                </a:solidFill>
                <a:latin typeface="-apple-system"/>
              </a:rPr>
              <a:t>상태 흐름</a:t>
            </a:r>
            <a:endParaRPr lang="ko-KR" altLang="en-US" b="1" i="0" dirty="0">
              <a:solidFill>
                <a:srgbClr val="374151"/>
              </a:solidFill>
              <a:effectLst/>
              <a:latin typeface="-apple-system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796136" y="1412776"/>
            <a:ext cx="2825552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800" smtClean="0"/>
              <a:t>[구독 해지 요청]</a:t>
            </a:r>
          </a:p>
          <a:p>
            <a:r>
              <a:rPr lang="ko-KR" altLang="en-US" sz="800" smtClean="0"/>
              <a:t>subscriptions:</a:t>
            </a:r>
          </a:p>
          <a:p>
            <a:r>
              <a:rPr lang="ko-KR" altLang="en-US" sz="800" smtClean="0"/>
              <a:t>  cancelled_at = now()       ← 요청 시점</a:t>
            </a:r>
          </a:p>
          <a:p>
            <a:r>
              <a:rPr lang="ko-KR" altLang="en-US" sz="800" smtClean="0"/>
              <a:t>  cancels_at = next_billing_date  ← 실제 종료일</a:t>
            </a:r>
          </a:p>
          <a:p>
            <a:r>
              <a:rPr lang="ko-KR" altLang="en-US" sz="800" smtClean="0"/>
              <a:t>  status = 'active' 유지     ← 기간 동안 계속 이용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[cancels_at 도래 - 관리자 처리]</a:t>
            </a:r>
          </a:p>
          <a:p>
            <a:r>
              <a:rPr lang="ko-KR" altLang="en-US" sz="800" smtClean="0"/>
              <a:t>  status = 'cancelled'</a:t>
            </a:r>
          </a:p>
          <a:p>
            <a:r>
              <a:rPr lang="ko-KR" altLang="en-US" sz="800" smtClean="0"/>
              <a:t>  site.status = 'cancelled'</a:t>
            </a:r>
          </a:p>
          <a:p>
            <a:endParaRPr lang="ko-KR" altLang="en-US" sz="800" smtClean="0"/>
          </a:p>
          <a:p>
            <a:r>
              <a:rPr lang="ko-KR" altLang="en-US" sz="800" smtClean="0"/>
              <a:t>[재구독 - 카드 재등록]</a:t>
            </a:r>
          </a:p>
          <a:p>
            <a:r>
              <a:rPr lang="ko-KR" altLang="en-US" sz="800" smtClean="0"/>
              <a:t>  cancelled_at = null</a:t>
            </a:r>
          </a:p>
          <a:p>
            <a:r>
              <a:rPr lang="ko-KR" altLang="en-US" sz="800" smtClean="0"/>
              <a:t>  cancels_at = null</a:t>
            </a:r>
          </a:p>
          <a:p>
            <a:r>
              <a:rPr lang="ko-KR" altLang="en-US" sz="800" smtClean="0"/>
              <a:t>  status = 'active'</a:t>
            </a:r>
          </a:p>
          <a:p>
            <a:r>
              <a:rPr lang="ko-KR" altLang="en-US" sz="800" smtClean="0"/>
              <a:t>  next_billing_date = 오늘 + 1달</a:t>
            </a:r>
          </a:p>
          <a:p>
            <a:r>
              <a:rPr lang="ko-KR" altLang="en-US" sz="800" smtClean="0"/>
              <a:t>  trial 없음 (trial_started_at 이미 있으므로)</a:t>
            </a:r>
            <a:endParaRPr lang="ko-KR" altLang="en-US" sz="800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3917572"/>
            <a:ext cx="3600400" cy="2779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782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692696"/>
            <a:ext cx="5219700" cy="46863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9885" y="2348880"/>
            <a:ext cx="4184115" cy="272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3415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1328737"/>
            <a:ext cx="590550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208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39552" y="620688"/>
            <a:ext cx="2952328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구독중</a:t>
            </a:r>
            <a:r>
              <a:rPr lang="ko-KR" altLang="en-US" dirty="0" smtClean="0"/>
              <a:t>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회원탈퇴</a:t>
            </a:r>
            <a:r>
              <a:rPr lang="en-US" altLang="ko-KR" dirty="0" smtClean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694083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19351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8476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5744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332656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20260413 </a:t>
            </a:r>
            <a:r>
              <a:rPr lang="ko-KR" altLang="en-US" dirty="0" smtClean="0"/>
              <a:t>구독해지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사이트 사라짐 </a:t>
            </a:r>
            <a:r>
              <a:rPr lang="en-US" altLang="ko-KR" dirty="0" smtClean="0"/>
              <a:t>&gt;  </a:t>
            </a:r>
            <a:r>
              <a:rPr lang="ko-KR" altLang="en-US" dirty="0" smtClean="0"/>
              <a:t>다시 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무료 배포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32452" y="908720"/>
            <a:ext cx="7075851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rgbClr val="6B7280"/>
                </a:solidFill>
                <a:latin typeface="Consolas" panose="020B0609020204030204" pitchFamily="49" charset="0"/>
              </a:rPr>
              <a:t>1.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구독 </a:t>
            </a:r>
            <a:r>
              <a:rPr lang="ko-KR" altLang="en-US" sz="1400" dirty="0" err="1">
                <a:solidFill>
                  <a:srgbClr val="374151"/>
                </a:solidFill>
                <a:latin typeface="Consolas" panose="020B0609020204030204" pitchFamily="49" charset="0"/>
              </a:rPr>
              <a:t>무료체험중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374151"/>
                </a:solidFill>
                <a:latin typeface="Consolas" panose="020B0609020204030204" pitchFamily="49" charset="0"/>
              </a:rPr>
              <a:t>&gt; 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사용자가 </a:t>
            </a:r>
            <a:r>
              <a:rPr lang="ko-KR" altLang="en-US" sz="1400" dirty="0" err="1">
                <a:solidFill>
                  <a:srgbClr val="374151"/>
                </a:solidFill>
                <a:latin typeface="Consolas" panose="020B0609020204030204" pitchFamily="49" charset="0"/>
              </a:rPr>
              <a:t>구독해제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1400" dirty="0">
                <a:solidFill>
                  <a:srgbClr val="374151"/>
                </a:solidFill>
                <a:latin typeface="Consolas" panose="020B0609020204030204" pitchFamily="49" charset="0"/>
              </a:rPr>
              <a:t>&gt; </a:t>
            </a:r>
            <a:r>
              <a:rPr lang="ko-KR" altLang="en-US" sz="1400" dirty="0">
                <a:solidFill>
                  <a:srgbClr val="374151"/>
                </a:solidFill>
                <a:latin typeface="Consolas" panose="020B0609020204030204" pitchFamily="49" charset="0"/>
              </a:rPr>
              <a:t>다시 </a:t>
            </a:r>
            <a:r>
              <a:rPr lang="ko-KR" altLang="en-US" sz="1400" dirty="0" smtClean="0">
                <a:solidFill>
                  <a:srgbClr val="374151"/>
                </a:solidFill>
                <a:latin typeface="Consolas" panose="020B0609020204030204" pitchFamily="49" charset="0"/>
              </a:rPr>
              <a:t>구독</a:t>
            </a:r>
            <a:endParaRPr lang="ko-KR" altLang="en-US" sz="1400" b="0" dirty="0">
              <a:solidFill>
                <a:srgbClr val="37415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67544" y="1556792"/>
            <a:ext cx="439248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r>
              <a:rPr lang="en-US" altLang="ko-KR" dirty="0" smtClean="0"/>
              <a:t>&gt;</a:t>
            </a:r>
            <a:r>
              <a:rPr lang="ko-KR" altLang="en-US" dirty="0" err="1" smtClean="0"/>
              <a:t>사이트생성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</a:t>
            </a:r>
            <a:r>
              <a:rPr lang="ko-KR" altLang="en-US" dirty="0" err="1" smtClean="0"/>
              <a:t>무료시작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5724128" y="2137724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카드등록</a:t>
            </a:r>
            <a:r>
              <a:rPr lang="ko-KR" altLang="en-US" dirty="0" smtClean="0"/>
              <a:t> 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구독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5724128" y="3052158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계좌이체 결제</a:t>
            </a:r>
            <a:r>
              <a:rPr lang="en-US" altLang="ko-KR" dirty="0" smtClean="0"/>
              <a:t>(</a:t>
            </a:r>
            <a:r>
              <a:rPr lang="ko-KR" altLang="en-US" dirty="0" smtClean="0"/>
              <a:t>자동이체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2665004" y="5229200"/>
            <a:ext cx="1979003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다음 결제일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배포일 </a:t>
            </a:r>
            <a:r>
              <a:rPr lang="en-US" altLang="ko-KR" dirty="0" smtClean="0"/>
              <a:t>+14+1</a:t>
            </a:r>
            <a:r>
              <a:rPr lang="ko-KR" altLang="en-US" dirty="0" smtClean="0"/>
              <a:t>달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5724128" y="3966592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계좌이체 결제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6012160" y="1423229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//</a:t>
            </a:r>
            <a:r>
              <a:rPr lang="ko-KR" altLang="en-US" dirty="0" smtClean="0"/>
              <a:t>결제</a:t>
            </a:r>
            <a:endParaRPr lang="ko-KR" altLang="en-US" dirty="0"/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3995936" y="4254624"/>
            <a:ext cx="1296144" cy="758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>
            <a:off x="6948264" y="4725144"/>
            <a:ext cx="0" cy="5040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995936" y="3789040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Y</a:t>
            </a:r>
            <a:endParaRPr lang="ko-KR" altLang="en-US" dirty="0"/>
          </a:p>
        </p:txBody>
      </p:sp>
      <p:sp>
        <p:nvSpPr>
          <p:cNvPr id="16" name="TextBox 15"/>
          <p:cNvSpPr txBox="1"/>
          <p:nvPr/>
        </p:nvSpPr>
        <p:spPr>
          <a:xfrm>
            <a:off x="7054958" y="4792506"/>
            <a:ext cx="64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N</a:t>
            </a:r>
            <a:endParaRPr lang="ko-KR" altLang="en-US" dirty="0"/>
          </a:p>
        </p:txBody>
      </p:sp>
      <p:sp>
        <p:nvSpPr>
          <p:cNvPr id="17" name="직사각형 16"/>
          <p:cNvSpPr/>
          <p:nvPr/>
        </p:nvSpPr>
        <p:spPr>
          <a:xfrm>
            <a:off x="6156176" y="5229200"/>
            <a:ext cx="1728192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무료</a:t>
            </a:r>
            <a:r>
              <a:rPr lang="en-US" altLang="ko-KR" dirty="0" smtClean="0"/>
              <a:t>14</a:t>
            </a:r>
            <a:r>
              <a:rPr lang="ko-KR" altLang="en-US" dirty="0" smtClean="0"/>
              <a:t>일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945945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51520" y="332656"/>
            <a:ext cx="77768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구독해지</a:t>
            </a:r>
            <a:r>
              <a:rPr lang="en-US" altLang="ko-KR" dirty="0" smtClean="0"/>
              <a:t>&gt;</a:t>
            </a:r>
            <a:r>
              <a:rPr lang="ko-KR" altLang="en-US" dirty="0" smtClean="0"/>
              <a:t>사이트 사라짐 </a:t>
            </a:r>
            <a:r>
              <a:rPr lang="en-US" altLang="ko-KR" dirty="0" smtClean="0"/>
              <a:t>&gt;  </a:t>
            </a:r>
            <a:r>
              <a:rPr lang="ko-KR" altLang="en-US" dirty="0" smtClean="0"/>
              <a:t>다시 배포 </a:t>
            </a:r>
            <a:r>
              <a:rPr lang="en-US" altLang="ko-KR" dirty="0" smtClean="0"/>
              <a:t>&gt; 14</a:t>
            </a:r>
            <a:r>
              <a:rPr lang="ko-KR" altLang="en-US" dirty="0" smtClean="0"/>
              <a:t>일 무료 배포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397468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887007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84943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3476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899592" y="1484784"/>
            <a:ext cx="93610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랜딩페이지</a:t>
            </a:r>
            <a:endParaRPr lang="ko-KR" altLang="en-US" sz="1000" dirty="0"/>
          </a:p>
        </p:txBody>
      </p:sp>
      <p:sp>
        <p:nvSpPr>
          <p:cNvPr id="4" name="직사각형 3"/>
          <p:cNvSpPr/>
          <p:nvPr/>
        </p:nvSpPr>
        <p:spPr>
          <a:xfrm>
            <a:off x="2051720" y="1484784"/>
            <a:ext cx="11740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고객</a:t>
            </a:r>
            <a:endParaRPr lang="en-US" altLang="ko-KR" sz="1000" dirty="0" smtClean="0"/>
          </a:p>
          <a:p>
            <a:pPr algn="ctr"/>
            <a:r>
              <a:rPr lang="ko-KR" altLang="en-US" sz="1000" dirty="0" smtClean="0"/>
              <a:t>로그인</a:t>
            </a:r>
            <a:r>
              <a:rPr lang="en-US" altLang="ko-KR" sz="1000" dirty="0" smtClean="0"/>
              <a:t>/</a:t>
            </a:r>
            <a:r>
              <a:rPr lang="ko-KR" altLang="en-US" sz="1000" dirty="0" err="1" smtClean="0"/>
              <a:t>횐원가입</a:t>
            </a:r>
            <a:endParaRPr lang="ko-KR" altLang="en-US" sz="1000" dirty="0"/>
          </a:p>
        </p:txBody>
      </p:sp>
      <p:sp>
        <p:nvSpPr>
          <p:cNvPr id="5" name="직사각형 4"/>
          <p:cNvSpPr/>
          <p:nvPr/>
        </p:nvSpPr>
        <p:spPr>
          <a:xfrm>
            <a:off x="3563888" y="1556792"/>
            <a:ext cx="814003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고객포탈</a:t>
            </a:r>
            <a:endParaRPr lang="ko-KR" alt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3380736" y="2367751"/>
            <a:ext cx="118030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 smtClean="0"/>
              <a:t>사이트생성</a:t>
            </a:r>
            <a:endParaRPr lang="en-US" altLang="ko-KR" sz="1000" dirty="0" smtClean="0"/>
          </a:p>
          <a:p>
            <a:r>
              <a:rPr lang="ko-KR" altLang="en-US" sz="1000" dirty="0" err="1" smtClean="0"/>
              <a:t>템플릿선택</a:t>
            </a:r>
            <a:r>
              <a:rPr lang="en-US" altLang="ko-KR" sz="1000" dirty="0" smtClean="0"/>
              <a:t>(</a:t>
            </a:r>
            <a:r>
              <a:rPr lang="ko-KR" altLang="en-US" sz="1000" dirty="0" smtClean="0"/>
              <a:t>카페</a:t>
            </a:r>
            <a:r>
              <a:rPr lang="en-US" altLang="ko-KR" sz="1000" dirty="0" smtClean="0"/>
              <a:t>/</a:t>
            </a:r>
            <a:r>
              <a:rPr lang="ko-KR" altLang="en-US" sz="1000" dirty="0" smtClean="0"/>
              <a:t>식당</a:t>
            </a:r>
            <a:r>
              <a:rPr lang="en-US" altLang="ko-KR" sz="1000" dirty="0" smtClean="0"/>
              <a:t>…)</a:t>
            </a:r>
          </a:p>
          <a:p>
            <a:r>
              <a:rPr lang="en-US" altLang="ko-KR" sz="1000" dirty="0" smtClean="0"/>
              <a:t>-----------</a:t>
            </a:r>
          </a:p>
          <a:p>
            <a:r>
              <a:rPr lang="ko-KR" altLang="en-US" sz="1000" dirty="0" err="1" smtClean="0"/>
              <a:t>사이트이동</a:t>
            </a:r>
            <a:endParaRPr lang="en-US" altLang="ko-KR" sz="1000" dirty="0" smtClean="0"/>
          </a:p>
          <a:p>
            <a:r>
              <a:rPr lang="en-US" altLang="ko-KR" sz="1000" dirty="0" smtClean="0"/>
              <a:t>-----------</a:t>
            </a:r>
          </a:p>
          <a:p>
            <a:r>
              <a:rPr lang="ko-KR" altLang="en-US" sz="1000" dirty="0" err="1" smtClean="0"/>
              <a:t>사이트관리</a:t>
            </a:r>
            <a:endParaRPr lang="en-US" altLang="ko-KR" sz="1000" dirty="0" smtClean="0"/>
          </a:p>
          <a:p>
            <a:r>
              <a:rPr lang="ko-KR" altLang="en-US" sz="1000" dirty="0" smtClean="0"/>
              <a:t>기본정보저장</a:t>
            </a:r>
            <a:endParaRPr lang="en-US" altLang="ko-KR" sz="1000" dirty="0" smtClean="0"/>
          </a:p>
          <a:p>
            <a:r>
              <a:rPr lang="ko-KR" altLang="en-US" sz="1000" dirty="0" smtClean="0"/>
              <a:t>사이트 에디터로 편집</a:t>
            </a:r>
            <a:endParaRPr lang="en-US" altLang="ko-KR" sz="1000" dirty="0" smtClean="0"/>
          </a:p>
          <a:p>
            <a:r>
              <a:rPr lang="ko-KR" altLang="en-US" sz="1000" dirty="0" smtClean="0"/>
              <a:t>사이트운영현황</a:t>
            </a:r>
            <a:endParaRPr lang="en-US" altLang="ko-KR" sz="1000" dirty="0" smtClean="0"/>
          </a:p>
          <a:p>
            <a:r>
              <a:rPr lang="ko-KR" altLang="en-US" sz="1000" dirty="0" err="1" smtClean="0"/>
              <a:t>결재연계</a:t>
            </a:r>
            <a:endParaRPr lang="en-US" altLang="ko-KR" sz="1000" dirty="0" smtClean="0"/>
          </a:p>
          <a:p>
            <a:r>
              <a:rPr lang="ko-KR" altLang="en-US" sz="1000" dirty="0" err="1" smtClean="0"/>
              <a:t>수정요청</a:t>
            </a:r>
            <a:r>
              <a:rPr lang="en-US" altLang="ko-KR" sz="1000" dirty="0" smtClean="0"/>
              <a:t>/</a:t>
            </a:r>
            <a:r>
              <a:rPr lang="ko-KR" altLang="en-US" sz="1000" dirty="0" smtClean="0"/>
              <a:t>처리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endParaRPr lang="en-US" altLang="ko-KR" sz="1000" dirty="0" smtClean="0"/>
          </a:p>
          <a:p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고객포탈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860032" y="3861048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카드등록</a:t>
            </a:r>
            <a:r>
              <a:rPr lang="en-US" altLang="ko-KR" sz="1000" dirty="0" smtClean="0"/>
              <a:t>/</a:t>
            </a:r>
            <a:r>
              <a:rPr lang="ko-KR" altLang="en-US" sz="1000" dirty="0" err="1" smtClean="0"/>
              <a:t>구독설정</a:t>
            </a:r>
            <a:endParaRPr lang="ko-KR" altLang="en-US" sz="1000" dirty="0"/>
          </a:p>
        </p:txBody>
      </p:sp>
      <p:sp>
        <p:nvSpPr>
          <p:cNvPr id="10" name="직사각형 9"/>
          <p:cNvSpPr/>
          <p:nvPr/>
        </p:nvSpPr>
        <p:spPr>
          <a:xfrm>
            <a:off x="4860031" y="3140967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에디터로수정</a:t>
            </a:r>
            <a:endParaRPr lang="ko-KR" altLang="en-US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4860030" y="2528899"/>
            <a:ext cx="814003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템플릿으로 생성</a:t>
            </a:r>
            <a:endParaRPr lang="ko-KR" altLang="en-US" sz="1000" dirty="0"/>
          </a:p>
        </p:txBody>
      </p:sp>
      <p:sp>
        <p:nvSpPr>
          <p:cNvPr id="16" name="직사각형 15"/>
          <p:cNvSpPr/>
          <p:nvPr/>
        </p:nvSpPr>
        <p:spPr>
          <a:xfrm>
            <a:off x="4860030" y="4509745"/>
            <a:ext cx="814003" cy="50405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 smtClean="0"/>
              <a:t>배포신청</a:t>
            </a:r>
            <a:endParaRPr lang="ko-KR" altLang="en-US" sz="1000" dirty="0"/>
          </a:p>
        </p:txBody>
      </p:sp>
      <p:sp>
        <p:nvSpPr>
          <p:cNvPr id="17" name="직사각형 16"/>
          <p:cNvSpPr/>
          <p:nvPr/>
        </p:nvSpPr>
        <p:spPr>
          <a:xfrm>
            <a:off x="4851703" y="1862825"/>
            <a:ext cx="814003" cy="50405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회원관리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561628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899592" y="1484784"/>
            <a:ext cx="93610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홈페이지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고객사이트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843973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188640"/>
            <a:ext cx="280831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Flow </a:t>
            </a:r>
            <a:r>
              <a:rPr lang="ko-KR" altLang="en-US" sz="1000" dirty="0" smtClean="0"/>
              <a:t>중간점검 </a:t>
            </a:r>
            <a:endParaRPr lang="ko-KR" altLang="en-US" sz="1000" dirty="0"/>
          </a:p>
        </p:txBody>
      </p:sp>
      <p:sp>
        <p:nvSpPr>
          <p:cNvPr id="3" name="직사각형 2"/>
          <p:cNvSpPr/>
          <p:nvPr/>
        </p:nvSpPr>
        <p:spPr>
          <a:xfrm>
            <a:off x="606312" y="1564136"/>
            <a:ext cx="1301392" cy="51558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smtClean="0"/>
              <a:t>플랫폼 </a:t>
            </a:r>
            <a:r>
              <a:rPr lang="ko-KR" altLang="en-US" sz="1000" dirty="0" err="1" smtClean="0"/>
              <a:t>랜딩페이지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899592" y="946612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3707904" y="946612"/>
            <a:ext cx="194421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smtClean="0"/>
              <a:t>플랫폼 수정 </a:t>
            </a:r>
            <a:endParaRPr lang="en-US" altLang="ko-KR" sz="1000" dirty="0" smtClean="0"/>
          </a:p>
          <a:p>
            <a:pPr marL="171450" indent="-171450">
              <a:buFontTx/>
              <a:buChar char="-"/>
            </a:pPr>
            <a:r>
              <a:rPr lang="ko-KR" altLang="en-US" sz="1000" dirty="0" err="1" smtClean="0"/>
              <a:t>새사이트</a:t>
            </a:r>
            <a:r>
              <a:rPr lang="ko-KR" altLang="en-US" sz="1000" dirty="0" smtClean="0"/>
              <a:t> 개설 불필요</a:t>
            </a:r>
            <a:endParaRPr lang="en-US" altLang="ko-KR" sz="1000" dirty="0" smtClean="0"/>
          </a:p>
          <a:p>
            <a:pPr marL="171450" indent="-171450">
              <a:buFontTx/>
              <a:buChar char="-"/>
            </a:pPr>
            <a:endParaRPr lang="en-US" altLang="ko-KR" sz="1000" dirty="0"/>
          </a:p>
          <a:p>
            <a:pPr marL="171450" indent="-171450">
              <a:buFontTx/>
              <a:buChar char="-"/>
            </a:pP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943990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1196752"/>
            <a:ext cx="136815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//</a:t>
            </a:r>
            <a:r>
              <a:rPr lang="en-US" altLang="ko-KR" sz="1200" dirty="0" err="1" smtClean="0"/>
              <a:t>imweb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539552" y="2060848"/>
            <a:ext cx="191700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200" dirty="0"/>
              <a:t>https://imweb.me/mysite</a:t>
            </a:r>
          </a:p>
        </p:txBody>
      </p:sp>
      <p:sp>
        <p:nvSpPr>
          <p:cNvPr id="4" name="오른쪽 화살표 3"/>
          <p:cNvSpPr/>
          <p:nvPr/>
        </p:nvSpPr>
        <p:spPr>
          <a:xfrm>
            <a:off x="3419872" y="2060848"/>
            <a:ext cx="720080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5" name="직사각형 4"/>
          <p:cNvSpPr/>
          <p:nvPr/>
        </p:nvSpPr>
        <p:spPr>
          <a:xfrm>
            <a:off x="4427984" y="1700808"/>
            <a:ext cx="4572000" cy="46166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/>
              <a:t>https://oksusoo133757.imweb.me/admin/?type=page&amp;back_url=aHR0cHM6Ly9va3N1c29vMTMzNzU3Lmltd2ViLm1lL2FkbWlu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611560" y="4941168"/>
            <a:ext cx="2223686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3B3B3B"/>
                </a:solidFill>
                <a:latin typeface="Consolas" panose="020B0609020204030204" pitchFamily="49" charset="0"/>
              </a:rPr>
              <a:t>http://localhost:3000/my</a:t>
            </a:r>
            <a:endParaRPr lang="en-US" altLang="ko-KR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오른쪽 화살표 6"/>
          <p:cNvSpPr/>
          <p:nvPr/>
        </p:nvSpPr>
        <p:spPr>
          <a:xfrm>
            <a:off x="3923928" y="5013176"/>
            <a:ext cx="720080" cy="3693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4828442" y="4941168"/>
            <a:ext cx="29883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>
                <a:solidFill>
                  <a:srgbClr val="3B3B3B"/>
                </a:solidFill>
                <a:latin typeface="Consolas" panose="020B0609020204030204" pitchFamily="49" charset="0"/>
              </a:rPr>
              <a:t>http://localhost:3000/my/testcafe</a:t>
            </a:r>
            <a:endParaRPr lang="en-US" altLang="ko-KR" sz="12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552" y="4077072"/>
            <a:ext cx="1512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//</a:t>
            </a:r>
            <a:r>
              <a:rPr lang="en-US" altLang="ko-KR" sz="1200" dirty="0" err="1" smtClean="0"/>
              <a:t>myplaform</a:t>
            </a:r>
            <a:endParaRPr lang="ko-KR" altLang="en-US" sz="1200" dirty="0"/>
          </a:p>
        </p:txBody>
      </p:sp>
      <p:sp>
        <p:nvSpPr>
          <p:cNvPr id="10" name="TextBox 9"/>
          <p:cNvSpPr txBox="1"/>
          <p:nvPr/>
        </p:nvSpPr>
        <p:spPr>
          <a:xfrm>
            <a:off x="251520" y="260648"/>
            <a:ext cx="1656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비교점검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83210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4464496" cy="3122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94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404664"/>
            <a:ext cx="8149970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829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32656"/>
            <a:ext cx="8502905" cy="583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54954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60648"/>
            <a:ext cx="7929916" cy="4790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1035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764704"/>
            <a:ext cx="1598412" cy="367020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764704"/>
            <a:ext cx="1658474" cy="315599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7784" y="4005064"/>
            <a:ext cx="1347986" cy="112777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6016" y="764704"/>
            <a:ext cx="1285926" cy="2135345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1942" y="603185"/>
            <a:ext cx="1625981" cy="45937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3326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764704"/>
            <a:ext cx="2419350" cy="3038475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1880" y="188640"/>
            <a:ext cx="1916157" cy="5273203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0152" y="548680"/>
            <a:ext cx="1406483" cy="221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336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988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188640"/>
            <a:ext cx="4896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20260331 </a:t>
            </a:r>
            <a:r>
              <a:rPr lang="ko-KR" altLang="en-US" dirty="0" err="1" smtClean="0"/>
              <a:t>에데터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심플버젼으로</a:t>
            </a:r>
            <a:r>
              <a:rPr lang="ko-KR" altLang="en-US" dirty="0" smtClean="0"/>
              <a:t> 기능 추가 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934" y="980728"/>
            <a:ext cx="8273410" cy="420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176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608" y="2420888"/>
            <a:ext cx="4433764" cy="3767787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1520" y="260648"/>
            <a:ext cx="2880320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토스개발자</a:t>
            </a:r>
            <a:r>
              <a:rPr lang="ko-KR" altLang="en-US" dirty="0" smtClean="0"/>
              <a:t> 가입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2" y="3573016"/>
            <a:ext cx="3052401" cy="17069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9512" y="4426483"/>
            <a:ext cx="9361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p</a:t>
            </a:r>
            <a:r>
              <a:rPr lang="en-US" altLang="ko-KR" dirty="0" smtClean="0"/>
              <a:t>cxxxx1!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057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260648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20260326 </a:t>
            </a:r>
            <a:r>
              <a:rPr lang="ko-KR" altLang="en-US" dirty="0" err="1" smtClean="0"/>
              <a:t>고객포털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3528" y="908720"/>
            <a:ext cx="4572000" cy="203132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mtClean="0"/>
              <a:t>app/</a:t>
            </a:r>
          </a:p>
          <a:p>
            <a:r>
              <a:rPr lang="ko-KR" altLang="en-US" smtClean="0"/>
              <a:t>  login/</a:t>
            </a:r>
          </a:p>
          <a:p>
            <a:r>
              <a:rPr lang="ko-KR" altLang="en-US" smtClean="0"/>
              <a:t>    page.js  ✅</a:t>
            </a:r>
          </a:p>
          <a:p>
            <a:r>
              <a:rPr lang="ko-KR" altLang="en-US" smtClean="0"/>
              <a:t>  my/</a:t>
            </a:r>
          </a:p>
          <a:p>
            <a:r>
              <a:rPr lang="ko-KR" altLang="en-US" smtClean="0"/>
              <a:t>    page.js  ✅</a:t>
            </a:r>
          </a:p>
          <a:p>
            <a:r>
              <a:rPr lang="ko-KR" altLang="en-US" smtClean="0"/>
              <a:t>    [subdomain]/</a:t>
            </a:r>
          </a:p>
          <a:p>
            <a:r>
              <a:rPr lang="ko-KR" altLang="en-US" smtClean="0"/>
              <a:t>      page.js  ✅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3851920" y="908720"/>
            <a:ext cx="4572000" cy="347787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000" dirty="0"/>
              <a:t>--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컬럼 추가</a:t>
            </a:r>
          </a:p>
          <a:p>
            <a:r>
              <a:rPr lang="ko-KR" altLang="en-US" sz="1000" dirty="0"/>
              <a:t>ALTER TABLE </a:t>
            </a:r>
            <a:r>
              <a:rPr lang="ko-KR" altLang="en-US" sz="1000" dirty="0" err="1"/>
              <a:t>customers</a:t>
            </a:r>
            <a:endParaRPr lang="ko-KR" altLang="en-US" sz="1000" dirty="0"/>
          </a:p>
          <a:p>
            <a:r>
              <a:rPr lang="ko-KR" altLang="en-US" sz="1000" dirty="0"/>
              <a:t>ADD COLUMN IF NOT EXISTS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UUID REFERENCES </a:t>
            </a:r>
            <a:r>
              <a:rPr lang="ko-KR" altLang="en-US" sz="1000" dirty="0" err="1"/>
              <a:t>auth.users</a:t>
            </a:r>
            <a:r>
              <a:rPr lang="ko-KR" altLang="en-US" sz="1000" dirty="0"/>
              <a:t>(</a:t>
            </a:r>
            <a:r>
              <a:rPr lang="ko-KR" altLang="en-US" sz="1000" dirty="0" err="1"/>
              <a:t>id</a:t>
            </a:r>
            <a:r>
              <a:rPr lang="ko-KR" altLang="en-US" sz="1000" dirty="0"/>
              <a:t>);</a:t>
            </a:r>
          </a:p>
          <a:p>
            <a:endParaRPr lang="ko-KR" altLang="en-US" sz="1000" dirty="0"/>
          </a:p>
          <a:p>
            <a:r>
              <a:rPr lang="ko-KR" altLang="en-US" sz="1000" dirty="0"/>
              <a:t>-- wonse@hos.com 연결</a:t>
            </a:r>
          </a:p>
          <a:p>
            <a:r>
              <a:rPr lang="ko-KR" altLang="en-US" sz="1000" dirty="0"/>
              <a:t>UPDATE </a:t>
            </a:r>
            <a:r>
              <a:rPr lang="ko-KR" altLang="en-US" sz="1000" dirty="0" err="1"/>
              <a:t>customers</a:t>
            </a:r>
            <a:endParaRPr lang="ko-KR" altLang="en-US" sz="1000" dirty="0"/>
          </a:p>
          <a:p>
            <a:r>
              <a:rPr lang="ko-KR" altLang="en-US" sz="1000" dirty="0"/>
              <a:t>SET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= (</a:t>
            </a:r>
          </a:p>
          <a:p>
            <a:r>
              <a:rPr lang="ko-KR" altLang="en-US" sz="1000" dirty="0"/>
              <a:t>  SELECT </a:t>
            </a:r>
            <a:r>
              <a:rPr lang="ko-KR" altLang="en-US" sz="1000" dirty="0" err="1"/>
              <a:t>id</a:t>
            </a:r>
            <a:r>
              <a:rPr lang="ko-KR" altLang="en-US" sz="1000" dirty="0"/>
              <a:t> FROM </a:t>
            </a:r>
            <a:r>
              <a:rPr lang="ko-KR" altLang="en-US" sz="1000" dirty="0" err="1"/>
              <a:t>auth.users</a:t>
            </a:r>
            <a:r>
              <a:rPr lang="ko-KR" altLang="en-US" sz="1000" dirty="0"/>
              <a:t> WHERE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 = '</a:t>
            </a:r>
            <a:r>
              <a:rPr lang="ko-KR" altLang="en-US" sz="1000" dirty="0" err="1"/>
              <a:t>wonse@hos.com</a:t>
            </a:r>
            <a:r>
              <a:rPr lang="ko-KR" altLang="en-US" sz="1000" dirty="0"/>
              <a:t>'</a:t>
            </a:r>
          </a:p>
          <a:p>
            <a:r>
              <a:rPr lang="ko-KR" altLang="en-US" sz="1000" dirty="0"/>
              <a:t>)</a:t>
            </a:r>
          </a:p>
          <a:p>
            <a:r>
              <a:rPr lang="ko-KR" altLang="en-US" sz="1000" dirty="0"/>
              <a:t>WHERE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 = '</a:t>
            </a:r>
            <a:r>
              <a:rPr lang="ko-KR" altLang="en-US" sz="1000" dirty="0" err="1"/>
              <a:t>wonse@hos.com</a:t>
            </a:r>
            <a:r>
              <a:rPr lang="ko-KR" altLang="en-US" sz="1000" dirty="0"/>
              <a:t>';</a:t>
            </a:r>
          </a:p>
          <a:p>
            <a:endParaRPr lang="ko-KR" altLang="en-US" sz="1000" dirty="0"/>
          </a:p>
          <a:p>
            <a:r>
              <a:rPr lang="ko-KR" altLang="en-US" sz="1000" dirty="0"/>
              <a:t>-- 확인</a:t>
            </a:r>
          </a:p>
          <a:p>
            <a:r>
              <a:rPr lang="ko-KR" altLang="en-US" sz="1000" dirty="0"/>
              <a:t>SELECT </a:t>
            </a:r>
            <a:r>
              <a:rPr lang="ko-KR" altLang="en-US" sz="1000" dirty="0" err="1"/>
              <a:t>customer_id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name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email</a:t>
            </a:r>
            <a:r>
              <a:rPr lang="ko-KR" altLang="en-US" sz="1000" dirty="0"/>
              <a:t>, </a:t>
            </a:r>
            <a:r>
              <a:rPr lang="ko-KR" altLang="en-US" sz="1000" dirty="0" err="1"/>
              <a:t>auth_id</a:t>
            </a:r>
            <a:r>
              <a:rPr lang="ko-KR" altLang="en-US" sz="1000" dirty="0"/>
              <a:t> FROM </a:t>
            </a:r>
            <a:r>
              <a:rPr lang="ko-KR" altLang="en-US" sz="1000" dirty="0" err="1"/>
              <a:t>customers</a:t>
            </a:r>
            <a:r>
              <a:rPr lang="ko-KR" altLang="en-US" sz="1000" dirty="0"/>
              <a:t>;</a:t>
            </a:r>
          </a:p>
          <a:p>
            <a:r>
              <a:rPr lang="ko-KR" altLang="en-US" sz="1000" dirty="0"/>
              <a:t>```</a:t>
            </a:r>
          </a:p>
          <a:p>
            <a:endParaRPr lang="ko-KR" altLang="en-US" sz="1000" dirty="0"/>
          </a:p>
          <a:p>
            <a:r>
              <a:rPr lang="ko-KR" altLang="en-US" sz="1000" dirty="0"/>
              <a:t>**STEP 2. 테스트:**</a:t>
            </a:r>
          </a:p>
          <a:p>
            <a:r>
              <a:rPr lang="ko-KR" altLang="en-US" sz="1000" dirty="0"/>
              <a:t>```</a:t>
            </a:r>
          </a:p>
          <a:p>
            <a:r>
              <a:rPr lang="ko-KR" altLang="en-US" sz="1000" dirty="0"/>
              <a:t>localhost:3000/</a:t>
            </a:r>
            <a:r>
              <a:rPr lang="ko-KR" altLang="en-US" sz="1000" dirty="0" err="1"/>
              <a:t>login</a:t>
            </a:r>
            <a:endParaRPr lang="ko-KR" altLang="en-US" sz="1000" dirty="0"/>
          </a:p>
          <a:p>
            <a:r>
              <a:rPr lang="ko-KR" altLang="en-US" sz="1000" dirty="0"/>
              <a:t>  → wonse@hos.com / test123</a:t>
            </a:r>
          </a:p>
          <a:p>
            <a:r>
              <a:rPr lang="ko-KR" altLang="en-US" sz="1000" dirty="0"/>
              <a:t>  → 로그인 성공 시 /</a:t>
            </a:r>
            <a:r>
              <a:rPr lang="ko-KR" altLang="en-US" sz="1000" dirty="0" err="1"/>
              <a:t>my</a:t>
            </a:r>
            <a:r>
              <a:rPr lang="ko-KR" altLang="en-US" sz="1000" dirty="0"/>
              <a:t> 이동</a:t>
            </a:r>
          </a:p>
          <a:p>
            <a:r>
              <a:rPr lang="ko-KR" altLang="en-US" sz="1000" dirty="0"/>
              <a:t>  → 사이트 목록 확인</a:t>
            </a:r>
          </a:p>
          <a:p>
            <a:r>
              <a:rPr lang="ko-KR" altLang="en-US" sz="1000" dirty="0"/>
              <a:t>  → 사이트 클릭 → /</a:t>
            </a:r>
            <a:r>
              <a:rPr lang="ko-KR" altLang="en-US" sz="1000" dirty="0" err="1"/>
              <a:t>my</a:t>
            </a:r>
            <a:r>
              <a:rPr lang="ko-KR" altLang="en-US" sz="1000" dirty="0"/>
              <a:t>/</a:t>
            </a:r>
            <a:r>
              <a:rPr lang="ko-KR" altLang="en-US" sz="1000" dirty="0" err="1"/>
              <a:t>testcafe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2460562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9088" y="3573016"/>
            <a:ext cx="4856981" cy="259853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2627059"/>
            <a:ext cx="2666467" cy="419524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568" y="404664"/>
            <a:ext cx="6419925" cy="6673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3848" y="1196752"/>
            <a:ext cx="1499545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7013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1996" y="692696"/>
            <a:ext cx="2589909" cy="255994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543" y="3501008"/>
            <a:ext cx="7401810" cy="165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7707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836712"/>
            <a:ext cx="8283402" cy="543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84292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179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6080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16632"/>
            <a:ext cx="18722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20260325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95536" y="620688"/>
            <a:ext cx="324036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아임웹</a:t>
            </a:r>
            <a:r>
              <a:rPr lang="ko-KR" altLang="en-US" dirty="0" smtClean="0"/>
              <a:t> 프로세스 분석</a:t>
            </a:r>
            <a:endParaRPr lang="en-US" altLang="ko-KR" dirty="0" smtClean="0"/>
          </a:p>
          <a:p>
            <a:pPr algn="ctr"/>
            <a:r>
              <a:rPr lang="en-US" altLang="ko-KR" dirty="0">
                <a:hlinkClick r:id="rId2"/>
              </a:rPr>
              <a:t>https://imweb.me</a:t>
            </a:r>
            <a:r>
              <a:rPr lang="en-US" altLang="ko-KR" dirty="0" smtClean="0">
                <a:hlinkClick r:id="rId2"/>
              </a:rPr>
              <a:t>/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2" y="1916832"/>
            <a:ext cx="5261323" cy="3490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54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548680"/>
            <a:ext cx="165618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755576" y="4653136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무료로 시작하기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188639"/>
            <a:ext cx="1512168" cy="258226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5936" y="2770902"/>
            <a:ext cx="3873662" cy="3189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231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052736"/>
            <a:ext cx="4806511" cy="197458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3" y="4005064"/>
            <a:ext cx="5544616" cy="1667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5576" y="332656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웹사이트개설하기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4625" y="2040030"/>
            <a:ext cx="2306191" cy="2991953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6084169" y="3212976"/>
            <a:ext cx="576063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5169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823912"/>
            <a:ext cx="7943850" cy="521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9540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251520" y="260648"/>
            <a:ext cx="237626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유료가입후</a:t>
            </a:r>
            <a:r>
              <a:rPr lang="ko-KR" altLang="en-US" dirty="0" smtClean="0"/>
              <a:t> 로그인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052737"/>
            <a:ext cx="4248472" cy="224718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20" y="4181129"/>
            <a:ext cx="4284068" cy="2440116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323528" y="3515944"/>
            <a:ext cx="1800200" cy="633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템플릿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2080" y="5157192"/>
            <a:ext cx="3723159" cy="1066888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6012160" y="3933056"/>
            <a:ext cx="1944216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웹사이트개설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847322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412776"/>
            <a:ext cx="6408712" cy="3053780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539552" y="476672"/>
            <a:ext cx="180020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164288" y="2708920"/>
            <a:ext cx="158417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템플릿변경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err="1" smtClean="0"/>
              <a:t>사이트관리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71448" y="3930045"/>
            <a:ext cx="5057948" cy="292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83165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556792"/>
            <a:ext cx="6640030" cy="509597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251520" y="188640"/>
            <a:ext cx="273630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사이트관리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6156176" y="3068960"/>
            <a:ext cx="735374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1259632" y="1628800"/>
            <a:ext cx="432048" cy="7200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976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467544" y="548680"/>
            <a:ext cx="432048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디자인모드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템플릿 내용 수정</a:t>
            </a:r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530" y="1268760"/>
            <a:ext cx="8329357" cy="4824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5598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8020050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0938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764704"/>
            <a:ext cx="5709566" cy="434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264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1196752"/>
            <a:ext cx="8608231" cy="4251654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488507" y="548680"/>
            <a:ext cx="438921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STEP 1. </a:t>
            </a:r>
            <a:r>
              <a:rPr lang="en-US" altLang="ko-KR" dirty="0" err="1"/>
              <a:t>Supabase</a:t>
            </a:r>
            <a:r>
              <a:rPr lang="ko-KR" altLang="en-US" dirty="0"/>
              <a:t>에서 테스트 유저 생성</a:t>
            </a:r>
            <a:r>
              <a:rPr lang="en-US" altLang="ko-KR" dirty="0"/>
              <a:t>: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7238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04606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37130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01675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7504" y="260648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20260324 </a:t>
            </a:r>
            <a:r>
              <a:rPr lang="ko-KR" altLang="en-US" dirty="0" smtClean="0"/>
              <a:t>설계변경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3203848" y="1701302"/>
            <a:ext cx="2088232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플렛폼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699792" y="981222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웹사이트 개발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배포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도메인 </a:t>
            </a:r>
            <a:r>
              <a:rPr lang="en-US" altLang="ko-KR" dirty="0" smtClean="0"/>
              <a:t>&gt; </a:t>
            </a:r>
            <a:r>
              <a:rPr lang="ko-KR" altLang="en-US" dirty="0" smtClean="0"/>
              <a:t>유지관리 간편 </a:t>
            </a:r>
            <a:r>
              <a:rPr lang="ko-KR" altLang="en-US" dirty="0" err="1" smtClean="0"/>
              <a:t>플렛폼</a:t>
            </a:r>
            <a:r>
              <a:rPr lang="ko-KR" altLang="en-US" dirty="0" smtClean="0"/>
              <a:t> 개발</a:t>
            </a:r>
            <a:endParaRPr lang="ko-KR" alt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79758" y="3021276"/>
            <a:ext cx="17281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고객</a:t>
            </a:r>
            <a:r>
              <a:rPr lang="en-US" altLang="ko-KR" sz="1400" dirty="0" smtClean="0"/>
              <a:t>: </a:t>
            </a:r>
            <a:r>
              <a:rPr lang="ko-KR" altLang="en-US" sz="1400" dirty="0" err="1" smtClean="0"/>
              <a:t>플랫폼가입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2555776" y="2995705"/>
            <a:ext cx="3528392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1. </a:t>
            </a:r>
            <a:r>
              <a:rPr lang="ko-KR" altLang="en-US" dirty="0" err="1" smtClean="0"/>
              <a:t>플렛폼</a:t>
            </a:r>
            <a:r>
              <a:rPr lang="ko-KR" altLang="en-US" dirty="0" smtClean="0"/>
              <a:t> 가이드 직원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고객사이트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대리개발</a:t>
            </a:r>
            <a:r>
              <a:rPr lang="ko-KR" altLang="en-US" dirty="0" smtClean="0"/>
              <a:t> 및 배포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2555776" y="4725144"/>
            <a:ext cx="3528392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2. </a:t>
            </a:r>
            <a:r>
              <a:rPr lang="ko-KR" altLang="en-US" dirty="0" smtClean="0"/>
              <a:t>고객이 직접 템플릿 활용해서 사이트 개발 및 배포 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6732240" y="4221582"/>
            <a:ext cx="1656184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프랫폼이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사이트운영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39062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692696"/>
            <a:ext cx="763284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1. </a:t>
            </a:r>
            <a:r>
              <a:rPr lang="ko-KR" altLang="en-US" dirty="0" smtClean="0"/>
              <a:t>고객은 플랫폼 </a:t>
            </a:r>
            <a:r>
              <a:rPr lang="ko-KR" altLang="en-US" dirty="0" err="1" smtClean="0"/>
              <a:t>가입후</a:t>
            </a:r>
            <a:r>
              <a:rPr lang="ko-KR" altLang="en-US" dirty="0" smtClean="0"/>
              <a:t> 사이트 개발을 자유롭게 가능</a:t>
            </a:r>
            <a:r>
              <a:rPr lang="en-US" altLang="ko-KR" dirty="0" smtClean="0"/>
              <a:t>. </a:t>
            </a:r>
            <a:r>
              <a:rPr lang="ko-KR" altLang="en-US" dirty="0" smtClean="0"/>
              <a:t>사이트 </a:t>
            </a:r>
            <a:r>
              <a:rPr lang="ko-KR" altLang="en-US" dirty="0" err="1" smtClean="0"/>
              <a:t>개발시</a:t>
            </a:r>
            <a:r>
              <a:rPr lang="ko-KR" altLang="en-US" dirty="0"/>
              <a:t> </a:t>
            </a:r>
            <a:r>
              <a:rPr lang="ko-KR" altLang="en-US" dirty="0" smtClean="0"/>
              <a:t>사용어려움이 있으면 본사 </a:t>
            </a:r>
            <a:r>
              <a:rPr lang="ko-KR" altLang="en-US" dirty="0" err="1" smtClean="0"/>
              <a:t>개발의뢰</a:t>
            </a:r>
            <a:r>
              <a:rPr lang="ko-KR" altLang="en-US" dirty="0" smtClean="0"/>
              <a:t> 가능 </a:t>
            </a:r>
            <a:r>
              <a:rPr lang="en-US" altLang="ko-KR" dirty="0" smtClean="0"/>
              <a:t>. </a:t>
            </a:r>
          </a:p>
          <a:p>
            <a:r>
              <a:rPr lang="en-US" altLang="ko-KR" dirty="0" smtClean="0"/>
              <a:t>2. </a:t>
            </a:r>
            <a:r>
              <a:rPr lang="ko-KR" altLang="en-US" dirty="0" smtClean="0"/>
              <a:t>고객은 플랫폼 </a:t>
            </a:r>
            <a:r>
              <a:rPr lang="ko-KR" altLang="en-US" dirty="0" err="1" smtClean="0"/>
              <a:t>가입후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개발후</a:t>
            </a:r>
            <a:r>
              <a:rPr lang="ko-KR" altLang="en-US" dirty="0" smtClean="0"/>
              <a:t> 배포 및 도메인연결후 카드 </a:t>
            </a:r>
            <a:r>
              <a:rPr lang="ko-KR" altLang="en-US" dirty="0" err="1" smtClean="0"/>
              <a:t>등록후</a:t>
            </a:r>
            <a:r>
              <a:rPr lang="ko-KR" altLang="en-US" dirty="0" smtClean="0"/>
              <a:t> 월 </a:t>
            </a:r>
            <a:r>
              <a:rPr lang="en-US" altLang="ko-KR" dirty="0" smtClean="0"/>
              <a:t>3</a:t>
            </a:r>
            <a:r>
              <a:rPr lang="ko-KR" altLang="en-US" dirty="0" smtClean="0"/>
              <a:t>만원의 서비스 유지 비용을 자동이체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3. </a:t>
            </a:r>
            <a:r>
              <a:rPr lang="ko-KR" altLang="en-US" dirty="0" smtClean="0"/>
              <a:t>플랫폼에서 </a:t>
            </a:r>
            <a:r>
              <a:rPr lang="ko-KR" altLang="en-US" dirty="0" err="1" smtClean="0"/>
              <a:t>고객또는</a:t>
            </a:r>
            <a:r>
              <a:rPr lang="ko-KR" altLang="en-US" dirty="0" smtClean="0"/>
              <a:t> 본사 직원이 템플릿을 </a:t>
            </a:r>
            <a:r>
              <a:rPr lang="ko-KR" altLang="en-US" dirty="0" err="1" smtClean="0"/>
              <a:t>활용서</a:t>
            </a:r>
            <a:r>
              <a:rPr lang="ko-KR" altLang="en-US" dirty="0" smtClean="0"/>
              <a:t> 자유롭게 수정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09879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455318"/>
            <a:ext cx="5616624" cy="6402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43343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68760"/>
            <a:ext cx="7780115" cy="5169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76425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052736"/>
            <a:ext cx="8496944" cy="4370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2636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124744"/>
            <a:ext cx="8825658" cy="450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665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052736"/>
            <a:ext cx="7355677" cy="558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2678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03848" y="2564904"/>
            <a:ext cx="2808312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테스트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2246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052736"/>
            <a:ext cx="5544616" cy="2796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620688"/>
            <a:ext cx="30963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사이트개설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850" y="4221088"/>
            <a:ext cx="8114631" cy="2431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33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188640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 사이트 접속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251520" y="692696"/>
            <a:ext cx="4572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altLang="ko-KR" dirty="0"/>
              <a:t>**STEP 3. </a:t>
            </a:r>
            <a:r>
              <a:rPr lang="ko-KR" altLang="en-US" dirty="0"/>
              <a:t>고객 사이트 접속**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preview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[subdomain]</a:t>
            </a:r>
          </a:p>
          <a:p>
            <a:r>
              <a:rPr lang="en-US" altLang="ko-KR" dirty="0" smtClean="0"/>
              <a:t>localhost:</a:t>
            </a:r>
            <a:r>
              <a:rPr lang="en-US" altLang="ko-KR" dirty="0" smtClean="0">
                <a:solidFill>
                  <a:srgbClr val="008080"/>
                </a:solidFill>
              </a:rPr>
              <a:t>3000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preview</a:t>
            </a:r>
            <a:r>
              <a:rPr lang="en-US" altLang="ko-KR" dirty="0" smtClean="0">
                <a:solidFill>
                  <a:srgbClr val="14181F"/>
                </a:solidFill>
              </a:rPr>
              <a:t>/</a:t>
            </a:r>
            <a:r>
              <a:rPr lang="en-US" altLang="ko-KR" dirty="0" smtClean="0"/>
              <a:t>won</a:t>
            </a:r>
            <a:endParaRPr lang="ko-KR" altLang="en-US" dirty="0"/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75" y="1750750"/>
            <a:ext cx="8129486" cy="4446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35331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260648"/>
            <a:ext cx="59766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**STEP 4. </a:t>
            </a:r>
            <a:r>
              <a:rPr lang="ko-KR" altLang="en-US" dirty="0"/>
              <a:t>게시판 글쓰기**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 smtClean="0"/>
              <a:t>localhost:3000/preview/[subdomain]/board/write</a:t>
            </a:r>
          </a:p>
          <a:p>
            <a:r>
              <a:rPr lang="en-US" altLang="ko-KR" dirty="0" smtClean="0"/>
              <a:t>localhost:3000/preview/won/board/write</a:t>
            </a:r>
            <a:endParaRPr lang="ko-KR" altLang="en-US" dirty="0"/>
          </a:p>
          <a:p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268760"/>
            <a:ext cx="3731635" cy="266429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437112"/>
            <a:ext cx="4921127" cy="2109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05785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92696"/>
            <a:ext cx="7252965" cy="408758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528" y="116632"/>
            <a:ext cx="2160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상세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734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5040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**STEP 5. </a:t>
            </a:r>
            <a:r>
              <a:rPr lang="ko-KR" altLang="en-US" dirty="0"/>
              <a:t>문의 접수**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/>
              <a:t>localhost:3000/preview/</a:t>
            </a:r>
            <a:r>
              <a:rPr lang="en-US" altLang="ko-KR" dirty="0" err="1"/>
              <a:t>testcafe</a:t>
            </a:r>
            <a:r>
              <a:rPr lang="en-US" altLang="ko-KR" dirty="0"/>
              <a:t>/contact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7840"/>
            <a:ext cx="5859300" cy="444825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326844" y="692696"/>
            <a:ext cx="2493628" cy="14401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고객 홈페이지 에서 </a:t>
            </a:r>
            <a:r>
              <a:rPr lang="ko-KR" altLang="en-US" sz="1200" dirty="0" err="1" smtClean="0"/>
              <a:t>수정요청</a:t>
            </a:r>
            <a:r>
              <a:rPr lang="en-US" altLang="ko-KR" sz="1200" dirty="0" smtClean="0"/>
              <a:t>? </a:t>
            </a:r>
          </a:p>
          <a:p>
            <a:pPr algn="ctr"/>
            <a:r>
              <a:rPr lang="ko-KR" altLang="en-US" sz="1200" dirty="0" smtClean="0"/>
              <a:t>이상한데</a:t>
            </a:r>
            <a:r>
              <a:rPr lang="en-US" altLang="ko-KR" sz="1200" dirty="0" smtClean="0"/>
              <a:t>?</a:t>
            </a:r>
          </a:p>
          <a:p>
            <a:pPr algn="ctr"/>
            <a:r>
              <a:rPr lang="en-US" altLang="ko-KR" sz="1200" dirty="0" smtClean="0"/>
              <a:t> </a:t>
            </a:r>
            <a:r>
              <a:rPr lang="ko-KR" altLang="en-US" sz="1200" dirty="0" smtClean="0"/>
              <a:t>플랫폼에 와서 </a:t>
            </a:r>
            <a:r>
              <a:rPr lang="ko-KR" altLang="en-US" sz="1200" dirty="0" err="1" smtClean="0"/>
              <a:t>내사이트의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문의접수를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해야맞지</a:t>
            </a:r>
            <a:r>
              <a:rPr lang="en-US" altLang="ko-KR" sz="1200" dirty="0" smtClean="0"/>
              <a:t>!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3888" y="2996952"/>
            <a:ext cx="5337072" cy="34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48474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1988840"/>
            <a:ext cx="8203641" cy="441508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3528" y="404664"/>
            <a:ext cx="597666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6. </a:t>
            </a:r>
            <a:r>
              <a:rPr lang="ko-KR" altLang="en-US" dirty="0"/>
              <a:t>관리자 콘솔에서 티켓 처리** </a:t>
            </a:r>
            <a:r>
              <a:rPr lang="en-US" altLang="ko-KR" dirty="0"/>
              <a:t>```</a:t>
            </a:r>
            <a:r>
              <a:rPr lang="ko-KR" altLang="en-US" dirty="0"/>
              <a:t> </a:t>
            </a:r>
            <a:r>
              <a:rPr lang="en-US" altLang="ko-KR" dirty="0"/>
              <a:t>localhost:3000/platform → "</a:t>
            </a:r>
            <a:r>
              <a:rPr lang="ko-KR" altLang="en-US" dirty="0"/>
              <a:t>수정 요청</a:t>
            </a:r>
            <a:r>
              <a:rPr lang="en-US" altLang="ko-KR" dirty="0"/>
              <a:t>"</a:t>
            </a:r>
            <a:r>
              <a:rPr lang="ko-KR" altLang="en-US" dirty="0"/>
              <a:t> </a:t>
            </a:r>
            <a:r>
              <a:rPr lang="ko-KR" altLang="en-US" dirty="0" smtClean="0"/>
              <a:t>탭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방금 </a:t>
            </a:r>
            <a:r>
              <a:rPr lang="ko-KR" altLang="en-US" dirty="0"/>
              <a:t>접수된 티켓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"</a:t>
            </a:r>
            <a:r>
              <a:rPr lang="ko-KR" altLang="en-US" dirty="0" err="1"/>
              <a:t>처리시작</a:t>
            </a:r>
            <a:r>
              <a:rPr lang="en-US" altLang="ko-KR" dirty="0"/>
              <a:t>"</a:t>
            </a:r>
            <a:r>
              <a:rPr lang="ko-KR" altLang="en-US" dirty="0"/>
              <a:t> 버튼 클릭 → </a:t>
            </a:r>
            <a:r>
              <a:rPr lang="en-US" altLang="ko-KR" dirty="0" err="1"/>
              <a:t>in_progress</a:t>
            </a:r>
            <a:r>
              <a:rPr lang="en-US" altLang="ko-KR" dirty="0"/>
              <a:t> </a:t>
            </a:r>
            <a:r>
              <a:rPr lang="ko-KR" altLang="en-US" dirty="0"/>
              <a:t>상태 변경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"</a:t>
            </a:r>
            <a:r>
              <a:rPr lang="ko-KR" altLang="en-US" dirty="0"/>
              <a:t>완료</a:t>
            </a:r>
            <a:r>
              <a:rPr lang="en-US" altLang="ko-KR" dirty="0"/>
              <a:t>"</a:t>
            </a:r>
            <a:r>
              <a:rPr lang="ko-KR" altLang="en-US" dirty="0"/>
              <a:t> 버튼 클릭 → </a:t>
            </a:r>
            <a:r>
              <a:rPr lang="en-US" altLang="ko-KR" dirty="0"/>
              <a:t>resolved </a:t>
            </a:r>
            <a:r>
              <a:rPr lang="ko-KR" altLang="en-US" dirty="0"/>
              <a:t>상태 변경 확인</a:t>
            </a:r>
          </a:p>
        </p:txBody>
      </p:sp>
    </p:spTree>
    <p:extLst>
      <p:ext uri="{BB962C8B-B14F-4D97-AF65-F5344CB8AC3E}">
        <p14:creationId xmlns:p14="http://schemas.microsoft.com/office/powerpoint/2010/main" val="647660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95536" y="188640"/>
            <a:ext cx="777686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7. </a:t>
            </a:r>
            <a:r>
              <a:rPr lang="ko-KR" altLang="en-US" dirty="0"/>
              <a:t>구독 납부 확인**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platform →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구독 현황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탭 </a:t>
            </a:r>
            <a:r>
              <a:rPr lang="en-US" altLang="ko-KR" dirty="0">
                <a:solidFill>
                  <a:srgbClr val="008080"/>
                </a:solidFill>
              </a:rPr>
              <a:t>1.</a:t>
            </a:r>
            <a:r>
              <a:rPr lang="ko-KR" altLang="en-US" dirty="0"/>
              <a:t> </a:t>
            </a:r>
            <a:r>
              <a:rPr lang="en-US" altLang="ko-KR" dirty="0" err="1"/>
              <a:t>testcafe</a:t>
            </a:r>
            <a:r>
              <a:rPr lang="en-US" altLang="ko-KR" dirty="0"/>
              <a:t> </a:t>
            </a:r>
            <a:r>
              <a:rPr lang="ko-KR" altLang="en-US" dirty="0"/>
              <a:t>구독 확인 </a:t>
            </a:r>
            <a:endParaRPr lang="en-US" altLang="ko-KR" dirty="0" smtClean="0"/>
          </a:p>
          <a:p>
            <a:r>
              <a:rPr lang="en-US" altLang="ko-KR" dirty="0" smtClean="0">
                <a:solidFill>
                  <a:srgbClr val="008080"/>
                </a:solidFill>
              </a:rPr>
              <a:t>2</a:t>
            </a:r>
            <a:r>
              <a:rPr lang="en-US" altLang="ko-KR" dirty="0">
                <a:solidFill>
                  <a:srgbClr val="008080"/>
                </a:solidFill>
              </a:rPr>
              <a:t>.</a:t>
            </a:r>
            <a:r>
              <a:rPr lang="ko-KR" altLang="en-US" dirty="0"/>
              <a:t>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납부 확인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버튼 클릭 → </a:t>
            </a:r>
            <a:r>
              <a:rPr lang="en-US" altLang="ko-KR" dirty="0" err="1"/>
              <a:t>Supabase</a:t>
            </a:r>
            <a:r>
              <a:rPr lang="en-US" altLang="ko-KR" dirty="0"/>
              <a:t> </a:t>
            </a:r>
            <a:r>
              <a:rPr lang="en-US" altLang="ko-KR" dirty="0" err="1"/>
              <a:t>billing_history</a:t>
            </a:r>
            <a:r>
              <a:rPr lang="en-US" altLang="ko-KR" dirty="0"/>
              <a:t> </a:t>
            </a:r>
            <a:r>
              <a:rPr lang="ko-KR" altLang="en-US" dirty="0"/>
              <a:t>테이블에 기록됐는지 확인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69" y="1309617"/>
            <a:ext cx="6233615" cy="3147820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899592" y="5301208"/>
            <a:ext cx="30963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</a:rPr>
              <a:t>납부 확인</a:t>
            </a:r>
            <a:r>
              <a:rPr lang="en-US" altLang="ko-KR" dirty="0">
                <a:solidFill>
                  <a:schemeClr val="tx1"/>
                </a:solidFill>
              </a:rPr>
              <a:t>"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ko-KR" altLang="en-US" dirty="0" smtClean="0">
                <a:solidFill>
                  <a:schemeClr val="tx1"/>
                </a:solidFill>
              </a:rPr>
              <a:t>버튼 </a:t>
            </a:r>
            <a:r>
              <a:rPr lang="ko-KR" altLang="en-US" dirty="0" err="1" smtClean="0">
                <a:solidFill>
                  <a:schemeClr val="tx1"/>
                </a:solidFill>
              </a:rPr>
              <a:t>반응없음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395536" y="4694656"/>
            <a:ext cx="340747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8100C2"/>
                </a:solidFill>
              </a:rPr>
              <a:t>SELECT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14181F"/>
                </a:solidFill>
              </a:rPr>
              <a:t>*</a:t>
            </a:r>
            <a:r>
              <a:rPr lang="en-US" altLang="ko-KR" dirty="0"/>
              <a:t> </a:t>
            </a:r>
            <a:r>
              <a:rPr lang="en-US" altLang="ko-KR" dirty="0">
                <a:solidFill>
                  <a:srgbClr val="8100C2"/>
                </a:solidFill>
              </a:rPr>
              <a:t>FROM</a:t>
            </a:r>
            <a:r>
              <a:rPr lang="en-US" altLang="ko-KR" dirty="0"/>
              <a:t> </a:t>
            </a:r>
            <a:r>
              <a:rPr lang="en-US" altLang="ko-KR" dirty="0" err="1"/>
              <a:t>billing_history</a:t>
            </a:r>
            <a:r>
              <a:rPr lang="en-US" altLang="ko-KR" dirty="0">
                <a:solidFill>
                  <a:srgbClr val="2B303B"/>
                </a:solidFill>
              </a:rPr>
              <a:t>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8968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908720"/>
            <a:ext cx="7910248" cy="3168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320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332656"/>
            <a:ext cx="8064896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**</a:t>
            </a:r>
            <a:r>
              <a:rPr lang="en-US" altLang="ko-KR" dirty="0"/>
              <a:t>STEP 8. </a:t>
            </a:r>
            <a:r>
              <a:rPr lang="ko-KR" altLang="en-US" dirty="0"/>
              <a:t>사이트 배포** </a:t>
            </a:r>
            <a:r>
              <a:rPr lang="en-US" altLang="ko-KR" dirty="0"/>
              <a:t>``</a:t>
            </a:r>
            <a:r>
              <a:rPr lang="en-US" altLang="ko-KR" dirty="0">
                <a:solidFill>
                  <a:srgbClr val="2B303B"/>
                </a:solidFill>
              </a:rPr>
              <a:t>`</a:t>
            </a:r>
            <a:r>
              <a:rPr lang="ko-KR" altLang="en-US" dirty="0"/>
              <a:t> </a:t>
            </a:r>
            <a:r>
              <a:rPr lang="en-US" altLang="ko-KR" dirty="0"/>
              <a:t>localhost:</a:t>
            </a:r>
            <a:r>
              <a:rPr lang="en-US" altLang="ko-KR" dirty="0">
                <a:solidFill>
                  <a:srgbClr val="008080"/>
                </a:solidFill>
              </a:rPr>
              <a:t>3000</a:t>
            </a:r>
            <a:r>
              <a:rPr lang="en-US" altLang="ko-KR" dirty="0">
                <a:solidFill>
                  <a:srgbClr val="14181F"/>
                </a:solidFill>
              </a:rPr>
              <a:t>/</a:t>
            </a:r>
            <a:r>
              <a:rPr lang="en-US" altLang="ko-KR" dirty="0"/>
              <a:t>platform → 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사이트 관리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탭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err="1" smtClean="0"/>
              <a:t>testcafe</a:t>
            </a:r>
            <a:r>
              <a:rPr lang="en-US" altLang="ko-KR" dirty="0" smtClean="0"/>
              <a:t> </a:t>
            </a:r>
            <a:r>
              <a:rPr lang="ko-KR" altLang="en-US" dirty="0"/>
              <a:t>사이트 상태 </a:t>
            </a:r>
            <a:r>
              <a:rPr lang="en-US" altLang="ko-KR" dirty="0">
                <a:solidFill>
                  <a:srgbClr val="008000"/>
                </a:solidFill>
              </a:rPr>
              <a:t>"draft"</a:t>
            </a:r>
            <a:r>
              <a:rPr lang="ko-KR" altLang="en-US" dirty="0"/>
              <a:t> 확인 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>
                <a:solidFill>
                  <a:srgbClr val="008000"/>
                </a:solidFill>
              </a:rPr>
              <a:t>"</a:t>
            </a:r>
            <a:r>
              <a:rPr lang="ko-KR" altLang="en-US" dirty="0">
                <a:solidFill>
                  <a:srgbClr val="008000"/>
                </a:solidFill>
              </a:rPr>
              <a:t>배포</a:t>
            </a:r>
            <a:r>
              <a:rPr lang="en-US" altLang="ko-KR" dirty="0">
                <a:solidFill>
                  <a:srgbClr val="008000"/>
                </a:solidFill>
              </a:rPr>
              <a:t>"</a:t>
            </a:r>
            <a:r>
              <a:rPr lang="ko-KR" altLang="en-US" dirty="0"/>
              <a:t> 버튼 클릭 → 상태 </a:t>
            </a:r>
            <a:r>
              <a:rPr lang="en-US" altLang="ko-KR" dirty="0">
                <a:solidFill>
                  <a:srgbClr val="008000"/>
                </a:solidFill>
              </a:rPr>
              <a:t>"published"</a:t>
            </a:r>
            <a:r>
              <a:rPr lang="ko-KR" altLang="en-US" dirty="0"/>
              <a:t>로 변경 확인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52" y="1988840"/>
            <a:ext cx="8305973" cy="1273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5117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0844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98062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09875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24482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2026-03-18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836712"/>
            <a:ext cx="5328592" cy="4889120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560" y="5727685"/>
            <a:ext cx="5418290" cy="83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17068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4976291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300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692696"/>
            <a:ext cx="5204911" cy="5082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2916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548680"/>
            <a:ext cx="6840760" cy="597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99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332656"/>
            <a:ext cx="5829805" cy="116596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758" y="1916832"/>
            <a:ext cx="4298052" cy="393226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2135" y="1817763"/>
            <a:ext cx="3482642" cy="4130398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0112" y="2708920"/>
            <a:ext cx="3482642" cy="265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03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12" y="836712"/>
            <a:ext cx="4648603" cy="5982218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23528" y="188640"/>
            <a:ext cx="720080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결론 </a:t>
            </a:r>
            <a:r>
              <a:rPr lang="en-US" altLang="ko-KR" dirty="0"/>
              <a:t>: "</a:t>
            </a:r>
            <a:r>
              <a:rPr lang="ko-KR" altLang="en-US" dirty="0" err="1"/>
              <a:t>판매자는</a:t>
            </a:r>
            <a:r>
              <a:rPr lang="ko-KR" altLang="en-US" dirty="0"/>
              <a:t> 수익 파트너</a:t>
            </a:r>
            <a:r>
              <a:rPr lang="en-US" altLang="ko-KR" dirty="0"/>
              <a:t>, </a:t>
            </a:r>
            <a:r>
              <a:rPr lang="ko-KR" altLang="en-US" dirty="0"/>
              <a:t>플랫폼은 인프라 </a:t>
            </a:r>
            <a:r>
              <a:rPr lang="en-US" altLang="ko-KR" dirty="0"/>
              <a:t>+ </a:t>
            </a:r>
            <a:r>
              <a:rPr lang="ko-KR" altLang="en-US" dirty="0"/>
              <a:t>안전망</a:t>
            </a:r>
            <a:r>
              <a:rPr lang="en-US" altLang="ko-KR" dirty="0"/>
              <a:t>"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75904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332656"/>
            <a:ext cx="7399383" cy="385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955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88640"/>
            <a:ext cx="6728018" cy="42369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2042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006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3741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1560" y="3212976"/>
            <a:ext cx="6928322" cy="309375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683568" y="2060848"/>
            <a:ext cx="252028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Pw:</a:t>
            </a:r>
            <a:r>
              <a:rPr lang="ko-KR" altLang="en-US" dirty="0" smtClean="0"/>
              <a:t>안녕하세요</a:t>
            </a:r>
            <a:endParaRPr lang="en-US" altLang="ko-KR" dirty="0" smtClean="0"/>
          </a:p>
          <a:p>
            <a:pPr algn="ctr"/>
            <a:r>
              <a:rPr lang="en-US" altLang="ko-KR" dirty="0" err="1" smtClean="0"/>
              <a:t>dkssudgktpdy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395536" y="260648"/>
            <a:ext cx="172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2026-03-17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9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1124744"/>
            <a:ext cx="7999498" cy="11695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dirty="0" smtClean="0">
                <a:hlinkClick r:id="rId2"/>
              </a:rPr>
              <a:t>https://pavvmktfbkpdtaayvplf.supabase.co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smtClean="0"/>
              <a:t>sb_publishable_Cu1YqzXXPGHQQZKbFMLPxg_WsM4G3C5</a:t>
            </a:r>
          </a:p>
          <a:p>
            <a:endParaRPr lang="en-US" altLang="ko-KR" sz="1400" dirty="0"/>
          </a:p>
          <a:p>
            <a:r>
              <a:rPr lang="en-US" altLang="ko-KR" sz="1400" dirty="0" smtClean="0"/>
              <a:t>postgresql://postgres:[YOUR-PASSWORD]@db.pavvmktfbkpdtaayvplf.supabase.co:5432/postgres</a:t>
            </a:r>
            <a:endParaRPr lang="ko-KR" altLang="en-US" sz="1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2564904"/>
            <a:ext cx="3141464" cy="31064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78314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7975" y="336550"/>
            <a:ext cx="5988050" cy="6184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7439624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3312</TotalTime>
  <Words>1120</Words>
  <Application>Microsoft Office PowerPoint</Application>
  <PresentationFormat>화면 슬라이드 쇼(4:3)</PresentationFormat>
  <Paragraphs>214</Paragraphs>
  <Slides>84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84</vt:i4>
      </vt:variant>
    </vt:vector>
  </HeadingPairs>
  <TitlesOfParts>
    <vt:vector size="92" baseType="lpstr">
      <vt:lpstr>-apple-system</vt:lpstr>
      <vt:lpstr>Arial Unicode MS</vt:lpstr>
      <vt:lpstr>var(--app-monospace-font-family)</vt:lpstr>
      <vt:lpstr>맑은 고딕</vt:lpstr>
      <vt:lpstr>Arial</vt:lpstr>
      <vt:lpstr>Consolas</vt:lpstr>
      <vt:lpstr>Wingdings</vt:lpstr>
      <vt:lpstr>Office 테마</vt:lpstr>
      <vt:lpstr>My-plaform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남승현(shnam)</cp:lastModifiedBy>
  <cp:revision>51</cp:revision>
  <dcterms:created xsi:type="dcterms:W3CDTF">2026-03-17T12:34:00Z</dcterms:created>
  <dcterms:modified xsi:type="dcterms:W3CDTF">2026-04-13T08:13:07Z</dcterms:modified>
</cp:coreProperties>
</file>